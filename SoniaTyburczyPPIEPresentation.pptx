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28"/>
  </p:notesMasterIdLst>
  <p:sldIdLst>
    <p:sldId id="259" r:id="rId5"/>
    <p:sldId id="258" r:id="rId6"/>
    <p:sldId id="375" r:id="rId7"/>
    <p:sldId id="261" r:id="rId8"/>
    <p:sldId id="376" r:id="rId9"/>
    <p:sldId id="286" r:id="rId10"/>
    <p:sldId id="385" r:id="rId11"/>
    <p:sldId id="386" r:id="rId12"/>
    <p:sldId id="387" r:id="rId13"/>
    <p:sldId id="388" r:id="rId14"/>
    <p:sldId id="389" r:id="rId15"/>
    <p:sldId id="367" r:id="rId16"/>
    <p:sldId id="390" r:id="rId17"/>
    <p:sldId id="391" r:id="rId18"/>
    <p:sldId id="394" r:id="rId19"/>
    <p:sldId id="365" r:id="rId20"/>
    <p:sldId id="369" r:id="rId21"/>
    <p:sldId id="373" r:id="rId22"/>
    <p:sldId id="392" r:id="rId23"/>
    <p:sldId id="393" r:id="rId24"/>
    <p:sldId id="262" r:id="rId25"/>
    <p:sldId id="396" r:id="rId26"/>
    <p:sldId id="397" r:id="rId27"/>
  </p:sldIdLst>
  <p:sldSz cx="9144000" cy="6858000" type="screen4x3"/>
  <p:notesSz cx="6858000" cy="9144000"/>
  <p:embeddedFontLst>
    <p:embeddedFont>
      <p:font typeface="Arial Narrow" panose="020B0604020202020204" pitchFamily="34" charset="0"/>
      <p:regular r:id="rId29"/>
      <p:bold r:id="rId30"/>
      <p:italic r:id="rId31"/>
      <p:boldItalic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Raleway" pitchFamily="2" charset="77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557"/>
    <a:srgbClr val="00B1B3"/>
    <a:srgbClr val="FFCC05"/>
    <a:srgbClr val="123452"/>
    <a:srgbClr val="163E64"/>
    <a:srgbClr val="8559A5"/>
    <a:srgbClr val="FF7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F7404-DBB0-4CE1-506F-DC14BDFDC131}" v="546" dt="2026-08-11T21:58:05.572"/>
    <p1510:client id="{08A11ADB-74E8-2C17-E4F6-18CC7858EC79}" v="328" dt="2026-08-11T21:18:52.017"/>
    <p1510:client id="{0CCA06EA-EC56-5A41-B044-7BABB0CBC1B0}" v="3" dt="2026-08-12T03:05:57.746"/>
    <p1510:client id="{163DD154-401A-A128-AFD8-E8998110A285}" v="296" dt="2026-08-12T07:18:00.854"/>
    <p1510:client id="{19BA6CE6-A239-AEC6-00CA-B47E8F2C53FF}" v="339" dt="2026-08-11T16:47:11.582"/>
    <p1510:client id="{1C56E6AB-8538-4EE7-738C-4AC1C016B87C}" v="232" dt="2026-08-11T14:39:31.211"/>
    <p1510:client id="{224C39D4-A9AF-D080-EDC3-A2D8A83253EA}" v="62" dt="2026-08-11T21:12:38.876"/>
    <p1510:client id="{2B69EF82-5C1A-44F9-8A7B-96BE805DB558}" v="36" dt="2026-08-12T11:48:14.826"/>
    <p1510:client id="{2C5807A5-58DE-6557-3D4D-72405F44B271}" v="1019" dt="2026-08-12T00:54:25.092"/>
    <p1510:client id="{39D16CF1-14ED-60F3-8D9A-AAEA8201C79E}" v="549" dt="2026-08-11T14:38:34.347"/>
    <p1510:client id="{4CBD3276-EFBB-BE38-B13C-DDC0D54E5C6A}" v="28" dt="2026-08-11T21:32:32.307"/>
    <p1510:client id="{52C72789-1B00-284E-A160-A4EEEDD55C88}" v="1422" dt="2026-08-11T20:34:23.948"/>
    <p1510:client id="{5BF28AB1-4C4A-4AD4-9591-A2AFFFE69D70}" v="634" dt="2026-08-11T20:52:44.087"/>
    <p1510:client id="{5EC591D5-B054-E5CA-607B-3A80EE946E0A}" v="321" dt="2026-08-11T20:50:28.574"/>
    <p1510:client id="{720C2B9F-1049-4363-07BF-D0C781924585}" v="10" dt="2026-08-11T12:50:09.829"/>
    <p1510:client id="{7B4907E8-3072-65BB-D7BE-C650217021E7}" v="1139" dt="2026-08-12T03:58:10.352"/>
    <p1510:client id="{8A19C3C1-D174-5A99-119C-CA18432CC99D}" v="289" dt="2026-08-11T16:32:51.229"/>
    <p1510:client id="{8BA64873-2CA2-C898-F494-350B3B849A2F}" v="46" dt="2026-08-11T14:28:18.468"/>
    <p1510:client id="{936F513A-1E47-8896-5992-CC92E730196C}" v="216" dt="2026-08-11T20:56:53.952"/>
    <p1510:client id="{93E8F655-9499-ACC1-0298-C062543052F8}" v="60" dt="2026-08-12T02:17:32.759"/>
    <p1510:client id="{B4722667-9FC1-32DD-E781-BD0B7E2B485E}" v="53" dt="2026-08-12T03:12:34.610"/>
    <p1510:client id="{CB34B1AC-7820-78F6-1866-77E4A112BA13}" v="459" dt="2026-08-11T21:06:09.034"/>
    <p1510:client id="{CCF59EFC-DDE2-4D3A-8941-71510B4C7C12}" v="466" dt="2026-08-12T11:39:46.193"/>
    <p1510:client id="{DF6F1ECA-9CFB-6FD9-1A07-4B4D66515ECF}" v="426" dt="2026-08-12T03:05:03.335"/>
  </p1510:revLst>
</p1510:revInfo>
</file>

<file path=ppt/tableStyles.xml><?xml version="1.0" encoding="utf-8"?>
<a:tblStyleLst xmlns:a="http://schemas.openxmlformats.org/drawingml/2006/main" def="{1D8870A2-D26C-40CA-A881-772326095D88}">
  <a:tblStyle styleId="{1D8870A2-D26C-40CA-A881-772326095D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1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1.fntdata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0A1134F-0D0D-6CC2-BE8A-7683111D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F19C64FF-8F8F-AE1A-CAEA-8C42B9161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7A55BAF1-2592-3EDF-9AEC-DCA0566B8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064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0F5B04EB-38A5-2F6C-4BBF-174CD80D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373AD231-FEB1-77CB-B670-A78772D4D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7F30E1F9-9FD6-98C1-F15C-6E7AEA78E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648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19D09C2-72B8-28AD-6CDF-66952800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18904B01-D03D-3D74-1D09-6FE23A1AD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4BEB1B0E-1676-35EB-5729-8A207FAC5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730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956E4553-29AF-749A-F6CF-24815EF1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CE4175FB-EB7F-0387-3E7B-71D3EDACE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5146F41F-A261-D5D2-3183-99FE8C826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63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CE27CA5-B0D4-A0E1-3C56-F3C6D136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81B5B8FB-E930-D782-41B2-EDD62F593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82B009EC-FDF9-BCA3-647D-810CB49D6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395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5337045D-6348-2F32-E2F4-B85D831D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A352332B-AB29-5DC7-54FB-E906FB28F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F2E8538E-B7AE-9ABF-B89A-5F09FAB6C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392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386F5CAB-4363-CCBB-A794-B6593D67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3CC9A620-265F-210C-0483-B819BE608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38C10E7B-D708-5ECB-3F74-E78AD6CD7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349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6FD5701-83A8-4E48-04FF-05850D1D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32A70994-9815-7E1A-3ECF-8AC545AAD4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5E7570B8-8AED-8591-270F-1B6C654F6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79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4060CEF4-D5A0-CE7F-2716-6E9EB5BE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302440FC-E5C6-59CC-3EF4-16D5E5CDE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A4D2CAF9-ED9C-AEC8-D059-748F57B59E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687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7B4F8F6C-4B5A-29BC-4854-14ECF1FB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025032BB-C931-F3DC-E090-21DDDC7F2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28ADBC0E-6CBB-4914-A6DA-DA12FFFD6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061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4570D438-EB3F-18F0-6CC4-C16DA0D1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E537770B-715A-F75A-9BD8-A4B03C7C63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BCDF6805-C40A-E568-16EE-2F468647E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513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4FD24F9-62A5-640C-43FA-33765C2E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F358B92E-ABB9-3617-E265-03D5122C2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F22CC7A1-3FDE-D897-6B66-00F7F8E57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498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77F9433-5913-CECE-70F0-31CA3C08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1EE9F803-AA9B-F3E3-76EA-771F65846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08CEFF3C-E7ED-F387-5486-B71D9CB15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825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5E7B94EB-3DEA-1E1B-0F2E-B096D19B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8425F15E-D229-8B46-3C6E-5056029C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B9740BF8-9B3E-D5CF-0ACB-91C173D85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364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577D599-3346-EC32-CD82-75B4DEDF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2F557454-FCEA-3DFD-AF19-BF3B0BDED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94565277-C635-9337-B584-5039BE800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17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2998425-4669-EDC3-2703-41B5BF82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>
            <a:extLst>
              <a:ext uri="{FF2B5EF4-FFF2-40B4-BE49-F238E27FC236}">
                <a16:creationId xmlns:a16="http://schemas.microsoft.com/office/drawing/2014/main" id="{3453320B-7CD0-47FA-119F-901BB3129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7D516E63-78DD-C8EA-59EA-24FE4024B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69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/>
        </p:nvSpPr>
        <p:spPr>
          <a:xfrm>
            <a:off x="0" y="0"/>
            <a:ext cx="9144000" cy="5323800"/>
          </a:xfrm>
          <a:prstGeom prst="rect">
            <a:avLst/>
          </a:prstGeom>
          <a:solidFill>
            <a:srgbClr val="3005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3047704" y="5323800"/>
            <a:ext cx="3047700" cy="102900"/>
          </a:xfrm>
          <a:prstGeom prst="rect">
            <a:avLst/>
          </a:prstGeom>
          <a:solidFill>
            <a:srgbClr val="FF7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Shape 20"/>
          <p:cNvSpPr/>
          <p:nvPr/>
        </p:nvSpPr>
        <p:spPr>
          <a:xfrm>
            <a:off x="6096271" y="5323800"/>
            <a:ext cx="3047700" cy="102900"/>
          </a:xfrm>
          <a:prstGeom prst="rect">
            <a:avLst/>
          </a:prstGeom>
          <a:solidFill>
            <a:srgbClr val="FFC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Shape 21"/>
          <p:cNvSpPr/>
          <p:nvPr/>
        </p:nvSpPr>
        <p:spPr>
          <a:xfrm>
            <a:off x="1" y="5323800"/>
            <a:ext cx="3047700" cy="102900"/>
          </a:xfrm>
          <a:prstGeom prst="rect">
            <a:avLst/>
          </a:prstGeom>
          <a:solidFill>
            <a:srgbClr val="00B1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-125" y="6440375"/>
            <a:ext cx="91440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>
                <a:solidFill>
                  <a:srgbClr val="8559A5"/>
                </a:solidFill>
              </a:defRPr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0664DB-D0D4-4DA5-A512-CE843A33B760}"/>
              </a:ext>
            </a:extLst>
          </p:cNvPr>
          <p:cNvSpPr/>
          <p:nvPr userDrawn="1"/>
        </p:nvSpPr>
        <p:spPr>
          <a:xfrm>
            <a:off x="0" y="6565784"/>
            <a:ext cx="251863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>
                <a:solidFill>
                  <a:srgbClr val="300557"/>
                </a:solidFill>
              </a:rPr>
              <a:t>Presented by NYC Department of Youth &amp; Community Development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30055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893700" y="1831450"/>
            <a:ext cx="6462600" cy="473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▷"/>
              <a:defRPr>
                <a:solidFill>
                  <a:srgbClr val="00B1B3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7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FC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00B1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3005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8559A5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F03B9-24C1-4EAC-BF06-186A6CE320EA}"/>
              </a:ext>
            </a:extLst>
          </p:cNvPr>
          <p:cNvSpPr/>
          <p:nvPr userDrawn="1"/>
        </p:nvSpPr>
        <p:spPr>
          <a:xfrm>
            <a:off x="0" y="6539656"/>
            <a:ext cx="251863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>
                <a:solidFill>
                  <a:srgbClr val="300557"/>
                </a:solidFill>
              </a:rPr>
              <a:t>Presented by NYC Department of Youth &amp; Community Development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7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FC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Shape 75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00B1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3005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8559A5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CADD5-244B-4B59-AAC5-88FBBB2305BE}"/>
              </a:ext>
            </a:extLst>
          </p:cNvPr>
          <p:cNvSpPr/>
          <p:nvPr userDrawn="1"/>
        </p:nvSpPr>
        <p:spPr>
          <a:xfrm>
            <a:off x="0" y="6565784"/>
            <a:ext cx="251863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>
                <a:solidFill>
                  <a:srgbClr val="300557"/>
                </a:solidFill>
              </a:rPr>
              <a:t>Presented by NYC Department of Youth &amp; Community Development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">
  <p:cSld name="BLANK_1">
    <p:bg>
      <p:bgPr>
        <a:solidFill>
          <a:srgbClr val="00B1B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7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Shape 80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FC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3005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AAE3B-1E01-40EB-B174-D21E84141EFC}"/>
              </a:ext>
            </a:extLst>
          </p:cNvPr>
          <p:cNvSpPr/>
          <p:nvPr userDrawn="1"/>
        </p:nvSpPr>
        <p:spPr>
          <a:xfrm>
            <a:off x="0" y="6565784"/>
            <a:ext cx="251863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>
                <a:solidFill>
                  <a:schemeClr val="bg1"/>
                </a:solidFill>
              </a:rPr>
              <a:t>Presented by NYC Department of Youth &amp; Community Development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93700" y="1831450"/>
            <a:ext cx="6462600" cy="4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677480"/>
              </a:buClr>
              <a:buSzPts val="3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○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■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7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B1B3"/>
                </a:solidFill>
              </a:rPr>
              <a:t>1.</a:t>
            </a:r>
          </a:p>
          <a:p>
            <a:pPr lvl="0"/>
            <a:r>
              <a:rPr lang="en-US"/>
              <a:t>Who Returns to SYEP? </a:t>
            </a:r>
          </a:p>
        </p:txBody>
      </p:sp>
      <p:sp>
        <p:nvSpPr>
          <p:cNvPr id="112" name="Shape 112"/>
          <p:cNvSpPr txBox="1">
            <a:spLocks noGrp="1"/>
          </p:cNvSpPr>
          <p:nvPr>
            <p:ph type="subTitle" idx="1"/>
          </p:nvPr>
        </p:nvSpPr>
        <p:spPr>
          <a:xfrm>
            <a:off x="685800" y="4432197"/>
            <a:ext cx="7772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Sonia Tyburczy</a:t>
            </a:r>
          </a:p>
        </p:txBody>
      </p:sp>
      <p:sp>
        <p:nvSpPr>
          <p:cNvPr id="113" name="Shape 113"/>
          <p:cNvSpPr txBox="1">
            <a:spLocks noGrp="1"/>
          </p:cNvSpPr>
          <p:nvPr>
            <p:ph type="sldNum" idx="12"/>
          </p:nvPr>
        </p:nvSpPr>
        <p:spPr>
          <a:xfrm>
            <a:off x="-125" y="6440375"/>
            <a:ext cx="91440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7AF57-F3B7-36D6-DA6F-1C39CC9CC53B}"/>
              </a:ext>
            </a:extLst>
          </p:cNvPr>
          <p:cNvSpPr txBox="1"/>
          <p:nvPr/>
        </p:nvSpPr>
        <p:spPr>
          <a:xfrm>
            <a:off x="1893221" y="3593100"/>
            <a:ext cx="5357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Participant, Placement, and Provider Correlates of Reapplication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ctrTitle" idx="4294967295"/>
          </p:nvPr>
        </p:nvSpPr>
        <p:spPr>
          <a:xfrm>
            <a:off x="262883" y="377626"/>
            <a:ext cx="7335677" cy="10658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B1B3"/>
                </a:solidFill>
              </a:rPr>
              <a:t>Introduction</a:t>
            </a:r>
            <a:endParaRPr sz="6000">
              <a:solidFill>
                <a:srgbClr val="00B1B3"/>
              </a:solidFill>
            </a:endParaRPr>
          </a:p>
        </p:txBody>
      </p:sp>
      <p:sp>
        <p:nvSpPr>
          <p:cNvPr id="103" name="Shape 103"/>
          <p:cNvSpPr txBox="1">
            <a:spLocks noGrp="1"/>
          </p:cNvSpPr>
          <p:nvPr>
            <p:ph type="subTitle" idx="4294967295"/>
          </p:nvPr>
        </p:nvSpPr>
        <p:spPr>
          <a:xfrm>
            <a:off x="262883" y="1402308"/>
            <a:ext cx="55611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4800" b="1">
                <a:solidFill>
                  <a:srgbClr val="300557"/>
                </a:solidFill>
                <a:latin typeface="Arial Narrow"/>
              </a:rPr>
              <a:t>Sonia</a:t>
            </a:r>
            <a:endParaRPr lang="en-US"/>
          </a:p>
        </p:txBody>
      </p:sp>
      <p:sp>
        <p:nvSpPr>
          <p:cNvPr id="106" name="Shape 106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" name="Shape 104">
            <a:extLst>
              <a:ext uri="{FF2B5EF4-FFF2-40B4-BE49-F238E27FC236}">
                <a16:creationId xmlns:a16="http://schemas.microsoft.com/office/drawing/2014/main" id="{D02451EC-135F-1F49-9D39-35525F53198D}"/>
              </a:ext>
            </a:extLst>
          </p:cNvPr>
          <p:cNvSpPr txBox="1">
            <a:spLocks/>
          </p:cNvSpPr>
          <p:nvPr/>
        </p:nvSpPr>
        <p:spPr>
          <a:xfrm>
            <a:off x="441573" y="2447356"/>
            <a:ext cx="4275589" cy="391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77480"/>
              </a:buClr>
              <a:buSzPts val="3000"/>
              <a:buFont typeface="Lato"/>
              <a:buChar char="▷"/>
              <a:defRPr sz="30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400">
                <a:solidFill>
                  <a:srgbClr val="300557"/>
                </a:solidFill>
                <a:latin typeface="Arial Narrow"/>
              </a:rPr>
              <a:t>A bit about me:</a:t>
            </a:r>
          </a:p>
          <a:p>
            <a:pPr marL="342900" indent="-342900">
              <a:buSzPts val="1100"/>
              <a:buFont typeface="Arial"/>
              <a:buChar char="•"/>
            </a:pPr>
            <a:r>
              <a:rPr lang="en-US" sz="2000">
                <a:solidFill>
                  <a:srgbClr val="300557"/>
                </a:solidFill>
                <a:latin typeface="Arial Narrow"/>
              </a:rPr>
              <a:t>Rising junior; math major at Baruch</a:t>
            </a:r>
            <a:endParaRPr lang="en-US" sz="2000"/>
          </a:p>
          <a:p>
            <a:pPr marL="342900" indent="-342900">
              <a:buSzPts val="1100"/>
              <a:buFont typeface="Arial"/>
              <a:buChar char="•"/>
            </a:pPr>
            <a:r>
              <a:rPr lang="en-US" sz="2000">
                <a:solidFill>
                  <a:srgbClr val="300557"/>
                </a:solidFill>
                <a:latin typeface="Arial Narrow"/>
              </a:rPr>
              <a:t>Interested in evaluation methodology (how do we define whether </a:t>
            </a:r>
            <a:r>
              <a:rPr lang="en-US" sz="2000" err="1">
                <a:solidFill>
                  <a:srgbClr val="300557"/>
                </a:solidFill>
                <a:latin typeface="Arial Narrow"/>
              </a:rPr>
              <a:t>somethi</a:t>
            </a:r>
            <a:r>
              <a:rPr lang="en-US" sz="2000">
                <a:solidFill>
                  <a:srgbClr val="300557"/>
                </a:solidFill>
                <a:latin typeface="Arial Narrow"/>
              </a:rPr>
              <a:t>ng works/"is good" or not)</a:t>
            </a:r>
            <a:endParaRPr lang="en-US"/>
          </a:p>
          <a:p>
            <a:pPr marL="342900" indent="-342900">
              <a:buSzPts val="1100"/>
              <a:buFont typeface="Arial"/>
              <a:buChar char="•"/>
            </a:pPr>
            <a:endParaRPr lang="en-US" sz="2000">
              <a:solidFill>
                <a:srgbClr val="300557"/>
              </a:solidFill>
              <a:latin typeface="Arial Narrow"/>
            </a:endParaRPr>
          </a:p>
          <a:p>
            <a:pPr marL="342900" indent="-342900">
              <a:buSzPts val="1100"/>
              <a:buFont typeface="Arial"/>
              <a:buChar char="•"/>
            </a:pPr>
            <a:endParaRPr lang="en-US" sz="2000">
              <a:solidFill>
                <a:srgbClr val="300557"/>
              </a:solidFill>
              <a:latin typeface="Arial Narrow"/>
            </a:endParaRPr>
          </a:p>
          <a:p>
            <a:pPr marL="342900" indent="-342900">
              <a:buSzPts val="1100"/>
              <a:buFont typeface="Arial"/>
              <a:buChar char="•"/>
            </a:pPr>
            <a:endParaRPr lang="en-US" sz="2000">
              <a:solidFill>
                <a:srgbClr val="300557"/>
              </a:solidFill>
              <a:latin typeface="Arial Narrow"/>
            </a:endParaRPr>
          </a:p>
        </p:txBody>
      </p:sp>
      <p:pic>
        <p:nvPicPr>
          <p:cNvPr id="2" name="Picture 1" descr="A picture containing person, person, outdoor, child&#10;&#10;AI-generated content may be incorrect.">
            <a:extLst>
              <a:ext uri="{FF2B5EF4-FFF2-40B4-BE49-F238E27FC236}">
                <a16:creationId xmlns:a16="http://schemas.microsoft.com/office/drawing/2014/main" id="{002051CF-C862-3C4D-E02A-4A9A5AAB37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87" r="12786" b="-177"/>
          <a:stretch>
            <a:fillRect/>
          </a:stretch>
        </p:blipFill>
        <p:spPr>
          <a:xfrm>
            <a:off x="4718110" y="1527026"/>
            <a:ext cx="3959329" cy="4016279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F71F3F37-B7BF-2BA6-F178-DE8CD39F991A}"/>
              </a:ext>
            </a:extLst>
          </p:cNvPr>
          <p:cNvSpPr/>
          <p:nvPr/>
        </p:nvSpPr>
        <p:spPr>
          <a:xfrm>
            <a:off x="1901903" y="1833755"/>
            <a:ext cx="384098" cy="98155"/>
          </a:xfrm>
          <a:prstGeom prst="rightArrow">
            <a:avLst/>
          </a:prstGeom>
          <a:solidFill>
            <a:srgbClr val="300557"/>
          </a:solidFill>
          <a:ln>
            <a:solidFill>
              <a:srgbClr val="3005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00557"/>
              </a:solidFill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1ED2857-3B37-B573-E0C5-9CE848E6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3BD0B4B2-0547-8254-B671-E64E682FA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675" y="479524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Project Motivation</a:t>
            </a:r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DB11770E-81C3-560B-D7FC-0396F5F6F2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" name="Shape 104">
            <a:extLst>
              <a:ext uri="{FF2B5EF4-FFF2-40B4-BE49-F238E27FC236}">
                <a16:creationId xmlns:a16="http://schemas.microsoft.com/office/drawing/2014/main" id="{8A7A1A33-81C8-17F6-44C5-78630590CF63}"/>
              </a:ext>
            </a:extLst>
          </p:cNvPr>
          <p:cNvSpPr txBox="1">
            <a:spLocks/>
          </p:cNvSpPr>
          <p:nvPr/>
        </p:nvSpPr>
        <p:spPr>
          <a:xfrm>
            <a:off x="607500" y="1714257"/>
            <a:ext cx="7923228" cy="415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77480"/>
              </a:buClr>
              <a:buSzPts val="3000"/>
              <a:buFont typeface="Lato"/>
              <a:buChar char="▷"/>
              <a:defRPr sz="30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2400">
                <a:solidFill>
                  <a:srgbClr val="300557"/>
                </a:solidFill>
                <a:latin typeface="Arial Narrow"/>
              </a:rPr>
              <a:t>Why it matters:</a:t>
            </a:r>
          </a:p>
          <a:p>
            <a:pPr marL="342900" indent="-342900">
              <a:buClr>
                <a:schemeClr val="dk1"/>
              </a:buClr>
              <a:buSzPts val="1100"/>
            </a:pPr>
            <a:r>
              <a:rPr lang="en-US" sz="2200">
                <a:solidFill>
                  <a:srgbClr val="300557"/>
                </a:solidFill>
                <a:latin typeface="Arial Narrow"/>
              </a:rPr>
              <a:t>Among CB × OY survey respondents, ~42% first heard about it through having participated in a past year.</a:t>
            </a:r>
            <a:endParaRPr lang="en-US"/>
          </a:p>
          <a:p>
            <a:pPr marL="342900" indent="-342900">
              <a:buClr>
                <a:schemeClr val="dk1"/>
              </a:buClr>
              <a:buSzPts val="1100"/>
            </a:pPr>
            <a:r>
              <a:rPr lang="en-US" sz="2200">
                <a:solidFill>
                  <a:srgbClr val="300557"/>
                </a:solidFill>
                <a:latin typeface="Arial Narrow"/>
              </a:rPr>
              <a:t>Nearly all the rest heard about it through a person a friend, a family member, program staff (~48% combined).  </a:t>
            </a:r>
            <a:endParaRPr lang="en-US"/>
          </a:p>
          <a:p>
            <a:pPr marL="342900" indent="-342900">
              <a:buClr>
                <a:schemeClr val="dk1"/>
              </a:buClr>
              <a:buSzPts val="1100"/>
            </a:pPr>
            <a:r>
              <a:rPr lang="en-US" sz="2200">
                <a:solidFill>
                  <a:srgbClr val="300557"/>
                </a:solidFill>
                <a:latin typeface="Arial Narrow"/>
              </a:rPr>
              <a:t>Reapplication rose from 55.6% in 2022 to 62.8% in 2024; 59.4% pooled across index years</a:t>
            </a:r>
            <a:r>
              <a:rPr lang="en-US" sz="2200">
                <a:solidFill>
                  <a:srgbClr val="300557"/>
                </a:solidFill>
              </a:rPr>
              <a:t>.</a:t>
            </a:r>
          </a:p>
          <a:p>
            <a:pPr marL="342900" indent="-342900">
              <a:buClr>
                <a:schemeClr val="dk1"/>
              </a:buClr>
              <a:buSzPts val="1100"/>
            </a:pPr>
            <a:r>
              <a:rPr lang="en-US" sz="2200">
                <a:solidFill>
                  <a:srgbClr val="300557"/>
                </a:solidFill>
                <a:latin typeface="Arial Narrow"/>
              </a:rPr>
              <a:t>Who comes back shapes who applies next year, and who the program ends up serving. </a:t>
            </a:r>
            <a:endParaRPr lang="en-US"/>
          </a:p>
          <a:p>
            <a:pPr marL="342900" indent="-342900">
              <a:buClr>
                <a:schemeClr val="dk1"/>
              </a:buClr>
              <a:buSzPts val="1100"/>
            </a:pPr>
            <a:endParaRPr lang="en-US"/>
          </a:p>
          <a:p>
            <a:pPr marL="342900" indent="-342900">
              <a:buClr>
                <a:schemeClr val="dk1"/>
              </a:buClr>
              <a:buSzPts val="1100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7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2431215" y="1508133"/>
            <a:ext cx="428157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Research Question</a:t>
            </a:r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643820" y="2759507"/>
            <a:ext cx="7856360" cy="2590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indent="0" algn="ctr">
              <a:buNone/>
            </a:pPr>
            <a:r>
              <a:rPr lang="en-US" sz="2800"/>
              <a:t>Among SYEP Older Youth Community-Based participants, what factors are associated with applying again the following year? </a:t>
            </a:r>
            <a:endParaRPr lang="en-US"/>
          </a:p>
          <a:p>
            <a:pPr lvl="1"/>
            <a:endParaRPr lang="en-US"/>
          </a:p>
        </p:txBody>
      </p:sp>
      <p:sp>
        <p:nvSpPr>
          <p:cNvPr id="126" name="Shape 126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39C8BBE-3060-6A57-1CC4-6B63DA94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8EAF5F88-B289-F91A-B0BA-7331BEE5F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675" y="479524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Narrowing the Question</a:t>
            </a:r>
          </a:p>
        </p:txBody>
      </p:sp>
      <p:sp>
        <p:nvSpPr>
          <p:cNvPr id="125" name="Shape 125">
            <a:extLst>
              <a:ext uri="{FF2B5EF4-FFF2-40B4-BE49-F238E27FC236}">
                <a16:creationId xmlns:a16="http://schemas.microsoft.com/office/drawing/2014/main" id="{9E9F12DB-BC88-A3A2-30E7-BACB1E7D0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675" y="1833630"/>
            <a:ext cx="8380650" cy="3747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2800"/>
              <a:t>What does "returning" mean? </a:t>
            </a:r>
          </a:p>
          <a:p>
            <a:pPr marL="0" indent="0">
              <a:buNone/>
            </a:pPr>
            <a:r>
              <a:rPr lang="en-US" sz="2000">
                <a:solidFill>
                  <a:srgbClr val="30055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Returned = reapplied the following year to any SYEP service option (not necessarily reenrolled or in the same service option) </a:t>
            </a:r>
          </a:p>
          <a:p>
            <a:pPr marL="0" indent="0">
              <a:buNone/>
            </a:pPr>
            <a:r>
              <a:rPr lang="en-US" sz="2800"/>
              <a:t>Who are we looking at?</a:t>
            </a:r>
          </a:p>
          <a:p>
            <a:pPr marL="0" indent="0">
              <a:buNone/>
            </a:pPr>
            <a:r>
              <a:rPr lang="en-US" sz="2000">
                <a:solidFill>
                  <a:srgbClr val="300557"/>
                </a:solidFill>
              </a:rPr>
              <a:t>Older Youth, Community-Based SYEP participants, eligible to return the following year (ages 16–23 at  program start) </a:t>
            </a:r>
            <a:endParaRPr lang="en-US" sz="2800"/>
          </a:p>
          <a:p>
            <a:pPr>
              <a:buNone/>
            </a:pPr>
            <a:r>
              <a:rPr lang="en-US" sz="2800"/>
              <a:t>What time frame?</a:t>
            </a:r>
          </a:p>
          <a:p>
            <a:pPr>
              <a:buNone/>
            </a:pPr>
            <a:r>
              <a:rPr lang="en-US" sz="2000">
                <a:solidFill>
                  <a:srgbClr val="300557"/>
                </a:solidFill>
              </a:rPr>
              <a:t>2022–2024 participation→ 2023–2025 application</a:t>
            </a:r>
            <a:endParaRPr lang="en-US"/>
          </a:p>
          <a:p>
            <a:pPr>
              <a:buNone/>
            </a:pPr>
            <a:endParaRPr lang="en-US" sz="1400">
              <a:solidFill>
                <a:srgbClr val="300557"/>
              </a:solidFill>
            </a:endParaRPr>
          </a:p>
          <a:p>
            <a:pPr>
              <a:buSzPts val="3000"/>
              <a:buNone/>
            </a:pPr>
            <a:endParaRPr lang="en-US" sz="1700">
              <a:solidFill>
                <a:srgbClr val="300557"/>
              </a:solidFill>
            </a:endParaRPr>
          </a:p>
          <a:p>
            <a:pPr marL="38100" indent="0">
              <a:buSzPts val="3000"/>
              <a:buNone/>
            </a:pPr>
            <a:endParaRPr lang="en-US"/>
          </a:p>
          <a:p>
            <a:pPr indent="-419100">
              <a:buSzPts val="3000"/>
              <a:buChar char="▷"/>
            </a:pPr>
            <a:endParaRPr lang="en-US"/>
          </a:p>
          <a:p>
            <a:pPr lvl="1" indent="-419100">
              <a:buSzPts val="3000"/>
              <a:buChar char="▷"/>
            </a:pP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E42825BA-A6CB-100F-56F0-556D0808A9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311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B9AEF2F-B20B-4A62-A2F7-13DFA345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9B836E13-A9E0-190A-429B-C33C4AD3AB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00" y="896616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We'll cover...</a:t>
            </a:r>
          </a:p>
        </p:txBody>
      </p:sp>
      <p:sp>
        <p:nvSpPr>
          <p:cNvPr id="125" name="Shape 125">
            <a:extLst>
              <a:ext uri="{FF2B5EF4-FFF2-40B4-BE49-F238E27FC236}">
                <a16:creationId xmlns:a16="http://schemas.microsoft.com/office/drawing/2014/main" id="{867FEB56-0835-EEB0-558B-6E31544C0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2206299"/>
            <a:ext cx="6462600" cy="2997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Building the analysis frame</a:t>
            </a:r>
          </a:p>
          <a:p>
            <a:r>
              <a:rPr lang="en-US"/>
              <a:t>Descriptive statistics</a:t>
            </a:r>
          </a:p>
          <a:p>
            <a:r>
              <a:rPr lang="en-US"/>
              <a:t>Regression</a:t>
            </a:r>
          </a:p>
          <a:p>
            <a:r>
              <a:rPr lang="en-US"/>
              <a:t>Findings &amp; </a:t>
            </a:r>
            <a:r>
              <a:rPr lang="en-US" err="1"/>
              <a:t>limitatio</a:t>
            </a:r>
            <a:r>
              <a:rPr lang="en-US"/>
              <a:t>ns</a:t>
            </a:r>
          </a:p>
          <a:p>
            <a:pPr>
              <a:buSzPts val="3000"/>
            </a:pPr>
            <a:endParaRPr lang="en-US"/>
          </a:p>
          <a:p>
            <a:pPr lvl="1" indent="-419100">
              <a:buSzPts val="3000"/>
              <a:buChar char="▷"/>
            </a:pPr>
            <a:endParaRPr lang="en-US"/>
          </a:p>
          <a:p>
            <a:pPr lvl="1" indent="-419100">
              <a:buSzPts val="3000"/>
              <a:buChar char="▷"/>
            </a:pP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F5906254-DBB3-3E26-16FB-1654D7B201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095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6B2807BA-EB73-D5A7-482B-BB1964BC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95187B92-F84C-F953-931F-E389F76F4E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771" y="241626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Data Sourcing</a:t>
            </a: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D3721BCF-68EF-4CBF-B86B-9AC4764EF5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86" name="Shape 4">
            <a:extLst>
              <a:ext uri="{FF2B5EF4-FFF2-40B4-BE49-F238E27FC236}">
                <a16:creationId xmlns:a16="http://schemas.microsoft.com/office/drawing/2014/main" id="{15D9AEC2-F3C3-7E57-9FAE-27A5BBB13819}"/>
              </a:ext>
            </a:extLst>
          </p:cNvPr>
          <p:cNvSpPr/>
          <p:nvPr/>
        </p:nvSpPr>
        <p:spPr>
          <a:xfrm>
            <a:off x="405384" y="2142857"/>
            <a:ext cx="3198542" cy="1015503"/>
          </a:xfrm>
          <a:prstGeom prst="roundRect">
            <a:avLst>
              <a:gd name="adj" fmla="val 7500"/>
            </a:avLst>
          </a:prstGeom>
          <a:solidFill>
            <a:srgbClr val="F3FAFF"/>
          </a:solidFill>
          <a:ln w="16510">
            <a:solidFill>
              <a:srgbClr val="1767C2"/>
            </a:solidFill>
            <a:prstDash val="solid"/>
          </a:ln>
          <a:effectLst>
            <a:outerShdw blurRad="25400" dist="50800" dir="2700000" algn="bl" rotWithShape="0">
              <a:srgbClr val="CBD5E1">
                <a:alpha val="2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7" name="Text 6">
            <a:extLst>
              <a:ext uri="{FF2B5EF4-FFF2-40B4-BE49-F238E27FC236}">
                <a16:creationId xmlns:a16="http://schemas.microsoft.com/office/drawing/2014/main" id="{CAC025DB-6C41-0A70-4136-AAFD18491C36}"/>
              </a:ext>
            </a:extLst>
          </p:cNvPr>
          <p:cNvSpPr/>
          <p:nvPr/>
        </p:nvSpPr>
        <p:spPr>
          <a:xfrm>
            <a:off x="393678" y="2508925"/>
            <a:ext cx="437232" cy="20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b="1">
              <a:solidFill>
                <a:srgbClr val="0A55B4"/>
              </a:solidFill>
            </a:endParaRPr>
          </a:p>
        </p:txBody>
      </p:sp>
      <p:sp>
        <p:nvSpPr>
          <p:cNvPr id="88" name="Text 7">
            <a:extLst>
              <a:ext uri="{FF2B5EF4-FFF2-40B4-BE49-F238E27FC236}">
                <a16:creationId xmlns:a16="http://schemas.microsoft.com/office/drawing/2014/main" id="{8E50E712-2792-3745-5B29-B671FDB2F7EA}"/>
              </a:ext>
            </a:extLst>
          </p:cNvPr>
          <p:cNvSpPr/>
          <p:nvPr/>
        </p:nvSpPr>
        <p:spPr>
          <a:xfrm>
            <a:off x="1085695" y="2342593"/>
            <a:ext cx="2356951" cy="250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82B5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SYEP applications, 2021–2025</a:t>
            </a:r>
            <a:endParaRPr lang="en-US" sz="1400">
              <a:latin typeface="Aptos Display"/>
            </a:endParaRPr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C0CC189A-38DD-9374-D60B-9D0D98FFCD9A}"/>
              </a:ext>
            </a:extLst>
          </p:cNvPr>
          <p:cNvSpPr/>
          <p:nvPr/>
        </p:nvSpPr>
        <p:spPr>
          <a:xfrm>
            <a:off x="1085695" y="2728478"/>
            <a:ext cx="2425269" cy="2925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>
                <a:solidFill>
                  <a:srgbClr val="0A5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1,028,110</a:t>
            </a:r>
            <a:r>
              <a:rPr lang="en-US" sz="1700">
                <a:solidFill>
                  <a:srgbClr val="151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rows × 185 columns</a:t>
            </a:r>
          </a:p>
          <a:p>
            <a:endParaRPr lang="en-US" sz="1700">
              <a:solidFill>
                <a:srgbClr val="151A22"/>
              </a:solidFill>
              <a:latin typeface="Aptos"/>
            </a:endParaRPr>
          </a:p>
        </p:txBody>
      </p:sp>
      <p:sp>
        <p:nvSpPr>
          <p:cNvPr id="90" name="Shape 9">
            <a:extLst>
              <a:ext uri="{FF2B5EF4-FFF2-40B4-BE49-F238E27FC236}">
                <a16:creationId xmlns:a16="http://schemas.microsoft.com/office/drawing/2014/main" id="{DC0422E5-7B78-202B-9100-ED1A77846364}"/>
              </a:ext>
            </a:extLst>
          </p:cNvPr>
          <p:cNvSpPr/>
          <p:nvPr/>
        </p:nvSpPr>
        <p:spPr>
          <a:xfrm>
            <a:off x="419016" y="3683697"/>
            <a:ext cx="3178750" cy="990856"/>
          </a:xfrm>
          <a:prstGeom prst="roundRect">
            <a:avLst>
              <a:gd name="adj" fmla="val 7500"/>
            </a:avLst>
          </a:prstGeom>
          <a:solidFill>
            <a:srgbClr val="F3FAFF"/>
          </a:solidFill>
          <a:ln w="16510">
            <a:solidFill>
              <a:srgbClr val="1767C2"/>
            </a:solidFill>
            <a:prstDash val="solid"/>
          </a:ln>
          <a:effectLst>
            <a:outerShdw blurRad="25400" dist="50800" dir="2700000" algn="bl" rotWithShape="0">
              <a:srgbClr val="CBD5E1">
                <a:alpha val="2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1" name="Text 11">
            <a:extLst>
              <a:ext uri="{FF2B5EF4-FFF2-40B4-BE49-F238E27FC236}">
                <a16:creationId xmlns:a16="http://schemas.microsoft.com/office/drawing/2014/main" id="{707BD615-F828-07CE-A539-40053213F9CE}"/>
              </a:ext>
            </a:extLst>
          </p:cNvPr>
          <p:cNvSpPr/>
          <p:nvPr/>
        </p:nvSpPr>
        <p:spPr>
          <a:xfrm>
            <a:off x="393678" y="4080572"/>
            <a:ext cx="437232" cy="20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b="1">
              <a:solidFill>
                <a:srgbClr val="0A55B4"/>
              </a:solidFill>
            </a:endParaRPr>
          </a:p>
        </p:txBody>
      </p:sp>
      <p:sp>
        <p:nvSpPr>
          <p:cNvPr id="92" name="Text 12">
            <a:extLst>
              <a:ext uri="{FF2B5EF4-FFF2-40B4-BE49-F238E27FC236}">
                <a16:creationId xmlns:a16="http://schemas.microsoft.com/office/drawing/2014/main" id="{84B38CE4-4337-6636-91B3-9F88A28EBCB0}"/>
              </a:ext>
            </a:extLst>
          </p:cNvPr>
          <p:cNvSpPr/>
          <p:nvPr/>
        </p:nvSpPr>
        <p:spPr>
          <a:xfrm>
            <a:off x="1245899" y="3951210"/>
            <a:ext cx="2356951" cy="250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082B5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SYEP surveys, 2022–2025</a:t>
            </a:r>
            <a:endParaRPr lang="en-US" sz="1400">
              <a:latin typeface="Aptos Display"/>
              <a:cs typeface="Arial"/>
            </a:endParaRPr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9B499924-FD6C-4B2D-2FAF-7DC9B92D5965}"/>
              </a:ext>
            </a:extLst>
          </p:cNvPr>
          <p:cNvSpPr/>
          <p:nvPr/>
        </p:nvSpPr>
        <p:spPr>
          <a:xfrm>
            <a:off x="1178121" y="4164567"/>
            <a:ext cx="2425269" cy="2925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0A55B4"/>
                </a:solidFill>
                <a:latin typeface="Aptos"/>
                <a:ea typeface="Aptos" pitchFamily="34" charset="-122"/>
                <a:cs typeface="Aptos" pitchFamily="34" charset="-120"/>
              </a:rPr>
              <a:t>151,475</a:t>
            </a:r>
            <a:r>
              <a:rPr lang="en-US" sz="1700">
                <a:solidFill>
                  <a:srgbClr val="151A22"/>
                </a:solidFill>
                <a:latin typeface="Aptos"/>
                <a:ea typeface="Aptos" pitchFamily="34" charset="-122"/>
                <a:cs typeface="Aptos" pitchFamily="34" charset="-120"/>
              </a:rPr>
              <a:t> rows × 634 columns</a:t>
            </a:r>
            <a:endParaRPr lang="en-US" sz="1700">
              <a:latin typeface="Aptos"/>
            </a:endParaRPr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CB6CC9DA-F4CE-670F-E5AA-F7D385F419AA}"/>
              </a:ext>
            </a:extLst>
          </p:cNvPr>
          <p:cNvSpPr/>
          <p:nvPr/>
        </p:nvSpPr>
        <p:spPr>
          <a:xfrm>
            <a:off x="3604597" y="2625962"/>
            <a:ext cx="2158831" cy="0"/>
          </a:xfrm>
          <a:prstGeom prst="line">
            <a:avLst/>
          </a:prstGeom>
          <a:noFill/>
          <a:ln w="25400">
            <a:solidFill>
              <a:srgbClr val="0E5EB8"/>
            </a:solidFill>
            <a:prstDash val="solid"/>
            <a:headEnd type="none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881F2B2A-4FAB-2585-7DCF-0C3B965D359B}"/>
              </a:ext>
            </a:extLst>
          </p:cNvPr>
          <p:cNvSpPr/>
          <p:nvPr/>
        </p:nvSpPr>
        <p:spPr>
          <a:xfrm>
            <a:off x="3604597" y="2709561"/>
            <a:ext cx="2158831" cy="1462969"/>
          </a:xfrm>
          <a:prstGeom prst="line">
            <a:avLst/>
          </a:prstGeom>
          <a:noFill/>
          <a:ln w="25400">
            <a:solidFill>
              <a:srgbClr val="0E5EB8"/>
            </a:solidFill>
            <a:prstDash val="solid"/>
            <a:headEnd type="none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6" name="Shape 16">
            <a:extLst>
              <a:ext uri="{FF2B5EF4-FFF2-40B4-BE49-F238E27FC236}">
                <a16:creationId xmlns:a16="http://schemas.microsoft.com/office/drawing/2014/main" id="{5F4B0247-7EBC-ACC5-7920-E3A89565CCAF}"/>
              </a:ext>
            </a:extLst>
          </p:cNvPr>
          <p:cNvSpPr/>
          <p:nvPr/>
        </p:nvSpPr>
        <p:spPr>
          <a:xfrm>
            <a:off x="3604597" y="4197609"/>
            <a:ext cx="2158831" cy="0"/>
          </a:xfrm>
          <a:prstGeom prst="line">
            <a:avLst/>
          </a:prstGeom>
          <a:noFill/>
          <a:ln w="25400">
            <a:solidFill>
              <a:srgbClr val="0E5EB8"/>
            </a:solidFill>
            <a:prstDash val="solid"/>
            <a:headEnd type="none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7" name="Shape 17">
            <a:extLst>
              <a:ext uri="{FF2B5EF4-FFF2-40B4-BE49-F238E27FC236}">
                <a16:creationId xmlns:a16="http://schemas.microsoft.com/office/drawing/2014/main" id="{3CD2BC41-CEBD-A2FD-2CF5-231559065F92}"/>
              </a:ext>
            </a:extLst>
          </p:cNvPr>
          <p:cNvSpPr/>
          <p:nvPr/>
        </p:nvSpPr>
        <p:spPr>
          <a:xfrm>
            <a:off x="4048660" y="2157812"/>
            <a:ext cx="1284368" cy="267514"/>
          </a:xfrm>
          <a:prstGeom prst="roundRect">
            <a:avLst>
              <a:gd name="adj" fmla="val 25000"/>
            </a:avLst>
          </a:prstGeom>
          <a:solidFill>
            <a:srgbClr val="FFFFFF">
              <a:alpha val="98000"/>
            </a:srgbClr>
          </a:solidFill>
          <a:ln w="11430">
            <a:solidFill>
              <a:srgbClr val="D4DAE3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F9030ABA-D4C1-6DCB-5A97-46D158FF6790}"/>
              </a:ext>
            </a:extLst>
          </p:cNvPr>
          <p:cNvSpPr/>
          <p:nvPr/>
        </p:nvSpPr>
        <p:spPr>
          <a:xfrm>
            <a:off x="4060323" y="2145473"/>
            <a:ext cx="1272705" cy="29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80" b="1">
                <a:solidFill>
                  <a:srgbClr val="0A5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1.03M → 130K</a:t>
            </a:r>
            <a:endParaRPr lang="en-US" sz="1380"/>
          </a:p>
        </p:txBody>
      </p:sp>
      <p:sp>
        <p:nvSpPr>
          <p:cNvPr id="99" name="Shape 19">
            <a:extLst>
              <a:ext uri="{FF2B5EF4-FFF2-40B4-BE49-F238E27FC236}">
                <a16:creationId xmlns:a16="http://schemas.microsoft.com/office/drawing/2014/main" id="{7DD7128D-7D34-7CA3-7736-9CD972702742}"/>
              </a:ext>
            </a:extLst>
          </p:cNvPr>
          <p:cNvSpPr/>
          <p:nvPr/>
        </p:nvSpPr>
        <p:spPr>
          <a:xfrm>
            <a:off x="4048660" y="4398245"/>
            <a:ext cx="1229714" cy="267514"/>
          </a:xfrm>
          <a:prstGeom prst="roundRect">
            <a:avLst>
              <a:gd name="adj" fmla="val 25000"/>
            </a:avLst>
          </a:prstGeom>
          <a:solidFill>
            <a:srgbClr val="FFFFFF">
              <a:alpha val="98000"/>
            </a:srgbClr>
          </a:solidFill>
          <a:ln w="11430">
            <a:solidFill>
              <a:srgbClr val="D4DAE3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0" name="Text 20">
            <a:extLst>
              <a:ext uri="{FF2B5EF4-FFF2-40B4-BE49-F238E27FC236}">
                <a16:creationId xmlns:a16="http://schemas.microsoft.com/office/drawing/2014/main" id="{41C4F0BD-227D-1A22-ABC7-219536A62B88}"/>
              </a:ext>
            </a:extLst>
          </p:cNvPr>
          <p:cNvSpPr/>
          <p:nvPr/>
        </p:nvSpPr>
        <p:spPr>
          <a:xfrm>
            <a:off x="4049087" y="4383923"/>
            <a:ext cx="1235546" cy="24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80" b="1">
                <a:solidFill>
                  <a:srgbClr val="0A5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151K → 5.8K</a:t>
            </a:r>
            <a:endParaRPr lang="en-US" sz="1380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D8AA7500-C49C-AF9E-B77A-181089E5EBE9}"/>
              </a:ext>
            </a:extLst>
          </p:cNvPr>
          <p:cNvSpPr/>
          <p:nvPr/>
        </p:nvSpPr>
        <p:spPr>
          <a:xfrm>
            <a:off x="5786605" y="2161342"/>
            <a:ext cx="3087277" cy="993454"/>
          </a:xfrm>
          <a:prstGeom prst="roundRect">
            <a:avLst>
              <a:gd name="adj" fmla="val 6522"/>
            </a:avLst>
          </a:prstGeom>
          <a:solidFill>
            <a:srgbClr val="FBF8FF"/>
          </a:solidFill>
          <a:ln w="16510">
            <a:solidFill>
              <a:srgbClr val="5A3FB6"/>
            </a:solidFill>
            <a:prstDash val="solid"/>
          </a:ln>
          <a:effectLst>
            <a:outerShdw blurRad="25400" dist="50800" dir="2700000" algn="bl" rotWithShape="0">
              <a:srgbClr val="CBD5E1">
                <a:alpha val="2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2" name="Text 23">
            <a:extLst>
              <a:ext uri="{FF2B5EF4-FFF2-40B4-BE49-F238E27FC236}">
                <a16:creationId xmlns:a16="http://schemas.microsoft.com/office/drawing/2014/main" id="{177E6780-084B-FEEE-7B31-D849E5D097D7}"/>
              </a:ext>
            </a:extLst>
          </p:cNvPr>
          <p:cNvSpPr/>
          <p:nvPr/>
        </p:nvSpPr>
        <p:spPr>
          <a:xfrm>
            <a:off x="5995708" y="2542364"/>
            <a:ext cx="437232" cy="20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b="1">
              <a:solidFill>
                <a:srgbClr val="5A3FB6"/>
              </a:solidFill>
            </a:endParaRPr>
          </a:p>
        </p:txBody>
      </p:sp>
      <p:sp>
        <p:nvSpPr>
          <p:cNvPr id="103" name="Text 24">
            <a:extLst>
              <a:ext uri="{FF2B5EF4-FFF2-40B4-BE49-F238E27FC236}">
                <a16:creationId xmlns:a16="http://schemas.microsoft.com/office/drawing/2014/main" id="{B9E3EE18-0B01-9EC4-19DA-D789EFBF79F5}"/>
              </a:ext>
            </a:extLst>
          </p:cNvPr>
          <p:cNvSpPr/>
          <p:nvPr/>
        </p:nvSpPr>
        <p:spPr>
          <a:xfrm>
            <a:off x="6327511" y="2309057"/>
            <a:ext cx="2015364" cy="250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77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50" b="1">
                <a:solidFill>
                  <a:srgbClr val="2B196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Frame A — administrative </a:t>
            </a:r>
            <a:endParaRPr lang="en-US" sz="1850"/>
          </a:p>
        </p:txBody>
      </p:sp>
      <p:sp>
        <p:nvSpPr>
          <p:cNvPr id="104" name="Text 25">
            <a:extLst>
              <a:ext uri="{FF2B5EF4-FFF2-40B4-BE49-F238E27FC236}">
                <a16:creationId xmlns:a16="http://schemas.microsoft.com/office/drawing/2014/main" id="{29AF4866-C165-ADDD-CFF6-50ABB98FF61C}"/>
              </a:ext>
            </a:extLst>
          </p:cNvPr>
          <p:cNvSpPr/>
          <p:nvPr/>
        </p:nvSpPr>
        <p:spPr>
          <a:xfrm>
            <a:off x="6541892" y="2531303"/>
            <a:ext cx="2083682" cy="234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5A3FB6"/>
                </a:solidFill>
                <a:latin typeface="Aptos"/>
                <a:ea typeface="Aptos" pitchFamily="34" charset="-122"/>
                <a:cs typeface="Aptos" pitchFamily="34" charset="-120"/>
              </a:rPr>
              <a:t>130,417</a:t>
            </a:r>
            <a:r>
              <a:rPr lang="en-US" sz="1300">
                <a:solidFill>
                  <a:srgbClr val="161622"/>
                </a:solidFill>
                <a:latin typeface="Aptos"/>
                <a:ea typeface="Aptos" pitchFamily="34" charset="-122"/>
                <a:cs typeface="Aptos" pitchFamily="34" charset="-120"/>
              </a:rPr>
              <a:t> person-years</a:t>
            </a:r>
            <a:endParaRPr lang="en-US" sz="1300">
              <a:latin typeface="Aptos"/>
              <a:cs typeface="Arial"/>
            </a:endParaRPr>
          </a:p>
        </p:txBody>
      </p:sp>
      <p:sp>
        <p:nvSpPr>
          <p:cNvPr id="105" name="Text 26">
            <a:extLst>
              <a:ext uri="{FF2B5EF4-FFF2-40B4-BE49-F238E27FC236}">
                <a16:creationId xmlns:a16="http://schemas.microsoft.com/office/drawing/2014/main" id="{32274CFC-C03D-EE33-01F1-C3C71C13207F}"/>
              </a:ext>
            </a:extLst>
          </p:cNvPr>
          <p:cNvSpPr/>
          <p:nvPr/>
        </p:nvSpPr>
        <p:spPr>
          <a:xfrm>
            <a:off x="6540847" y="2787881"/>
            <a:ext cx="1981205" cy="16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>
                <a:solidFill>
                  <a:srgbClr val="202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years 2022–2024</a:t>
            </a:r>
            <a:endParaRPr lang="en-US" sz="1250"/>
          </a:p>
        </p:txBody>
      </p:sp>
      <p:sp>
        <p:nvSpPr>
          <p:cNvPr id="106" name="Shape 27">
            <a:extLst>
              <a:ext uri="{FF2B5EF4-FFF2-40B4-BE49-F238E27FC236}">
                <a16:creationId xmlns:a16="http://schemas.microsoft.com/office/drawing/2014/main" id="{50278255-7C3F-E815-F72E-3A1E761A4868}"/>
              </a:ext>
            </a:extLst>
          </p:cNvPr>
          <p:cNvSpPr/>
          <p:nvPr/>
        </p:nvSpPr>
        <p:spPr>
          <a:xfrm>
            <a:off x="5792766" y="3692490"/>
            <a:ext cx="3093439" cy="999612"/>
          </a:xfrm>
          <a:prstGeom prst="roundRect">
            <a:avLst>
              <a:gd name="adj" fmla="val 6522"/>
            </a:avLst>
          </a:prstGeom>
          <a:solidFill>
            <a:srgbClr val="FBF8FF"/>
          </a:solidFill>
          <a:ln w="16510">
            <a:solidFill>
              <a:srgbClr val="5A3FB6"/>
            </a:solidFill>
            <a:prstDash val="solid"/>
          </a:ln>
          <a:effectLst>
            <a:outerShdw blurRad="25400" dist="50800" dir="2700000" algn="bl" rotWithShape="0">
              <a:srgbClr val="CBD5E1">
                <a:alpha val="2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7" name="Text 30">
            <a:extLst>
              <a:ext uri="{FF2B5EF4-FFF2-40B4-BE49-F238E27FC236}">
                <a16:creationId xmlns:a16="http://schemas.microsoft.com/office/drawing/2014/main" id="{1270B8ED-32C4-2472-DC2C-DAE4F344EC27}"/>
              </a:ext>
            </a:extLst>
          </p:cNvPr>
          <p:cNvSpPr/>
          <p:nvPr/>
        </p:nvSpPr>
        <p:spPr>
          <a:xfrm>
            <a:off x="6604139" y="3827778"/>
            <a:ext cx="2015364" cy="250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2B196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Frame B — survey</a:t>
            </a:r>
            <a:endParaRPr lang="en-US" sz="1400">
              <a:latin typeface="Aptos Display"/>
              <a:cs typeface="Arial"/>
            </a:endParaRPr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ED491CA8-8393-C078-2C46-BD4C6131E62B}"/>
              </a:ext>
            </a:extLst>
          </p:cNvPr>
          <p:cNvSpPr/>
          <p:nvPr/>
        </p:nvSpPr>
        <p:spPr>
          <a:xfrm>
            <a:off x="6682261" y="4085420"/>
            <a:ext cx="2083682" cy="234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5A3FB6"/>
                </a:solidFill>
                <a:latin typeface="Aptos"/>
                <a:ea typeface="Aptos" pitchFamily="34" charset="-122"/>
                <a:cs typeface="Aptos" pitchFamily="34" charset="-120"/>
              </a:rPr>
              <a:t>5,844</a:t>
            </a:r>
            <a:r>
              <a:rPr lang="en-US" sz="1300">
                <a:solidFill>
                  <a:srgbClr val="161622"/>
                </a:solidFill>
                <a:latin typeface="Aptos"/>
                <a:ea typeface="Aptos" pitchFamily="34" charset="-122"/>
                <a:cs typeface="Aptos" pitchFamily="34" charset="-120"/>
              </a:rPr>
              <a:t> participants</a:t>
            </a:r>
            <a:endParaRPr lang="en-US" sz="1300">
              <a:latin typeface="Aptos"/>
              <a:cs typeface="Arial"/>
            </a:endParaRP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006DEBB9-07AB-EE90-C119-303DE0905723}"/>
              </a:ext>
            </a:extLst>
          </p:cNvPr>
          <p:cNvSpPr/>
          <p:nvPr/>
        </p:nvSpPr>
        <p:spPr>
          <a:xfrm>
            <a:off x="550809" y="5100470"/>
            <a:ext cx="3040126" cy="250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hashed-SSN → participant-ID crosswalk</a:t>
            </a:r>
            <a:endParaRPr lang="en-US" sz="1500"/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5483A73B-7FD0-191B-2B91-455A215FB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457" y="2434102"/>
            <a:ext cx="430089" cy="436251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E8DD0181-907D-C6E6-77EB-807763BF1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457" y="3949885"/>
            <a:ext cx="430089" cy="436251"/>
          </a:xfrm>
          <a:prstGeom prst="rect">
            <a:avLst/>
          </a:prstGeom>
        </p:spPr>
      </p:pic>
      <p:sp>
        <p:nvSpPr>
          <p:cNvPr id="3" name="Text 26">
            <a:extLst>
              <a:ext uri="{FF2B5EF4-FFF2-40B4-BE49-F238E27FC236}">
                <a16:creationId xmlns:a16="http://schemas.microsoft.com/office/drawing/2014/main" id="{B06C21E6-006E-3D78-8835-9EB3CE2B0F19}"/>
              </a:ext>
            </a:extLst>
          </p:cNvPr>
          <p:cNvSpPr/>
          <p:nvPr/>
        </p:nvSpPr>
        <p:spPr>
          <a:xfrm>
            <a:off x="6774794" y="4318565"/>
            <a:ext cx="1981205" cy="16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>
                <a:solidFill>
                  <a:srgbClr val="202736"/>
                </a:solidFill>
                <a:latin typeface="Aptos"/>
              </a:rPr>
              <a:t>pre/post matched</a:t>
            </a:r>
          </a:p>
        </p:txBody>
      </p:sp>
    </p:spTree>
    <p:extLst>
      <p:ext uri="{BB962C8B-B14F-4D97-AF65-F5344CB8AC3E}">
        <p14:creationId xmlns:p14="http://schemas.microsoft.com/office/powerpoint/2010/main" val="31315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06C448B-0EB7-E67C-C203-D05232E3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6AEF11D2-376A-B37F-204D-8015816E5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633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The Identity Problem</a:t>
            </a: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74E81492-C1B4-B80A-315C-EE1FA68EF3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00086-59B0-457C-DDC3-A7B64C8E4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741" y="1418275"/>
            <a:ext cx="8093977" cy="5149718"/>
          </a:xfrm>
        </p:spPr>
        <p:txBody>
          <a:bodyPr/>
          <a:lstStyle/>
          <a:p>
            <a:pPr marL="38100" indent="0">
              <a:buNone/>
            </a:pPr>
            <a:r>
              <a:rPr lang="en-US" sz="2000" b="1"/>
              <a:t>There is no unique ID per participant, only ID per application. </a:t>
            </a:r>
            <a:endParaRPr lang="en-US" b="1"/>
          </a:p>
          <a:p>
            <a:r>
              <a:rPr lang="en-US" sz="1800" b="1">
                <a:solidFill>
                  <a:srgbClr val="300557"/>
                </a:solidFill>
              </a:rPr>
              <a:t>Problem: </a:t>
            </a:r>
            <a:r>
              <a:rPr lang="en-US" sz="1800">
                <a:solidFill>
                  <a:srgbClr val="300557"/>
                </a:solidFill>
              </a:rPr>
              <a:t>Without a person key, the research question is unanswerable. </a:t>
            </a:r>
          </a:p>
          <a:p>
            <a:r>
              <a:rPr lang="en-US" sz="1800" b="1">
                <a:solidFill>
                  <a:srgbClr val="300557"/>
                </a:solidFill>
              </a:rPr>
              <a:t>Solution: </a:t>
            </a:r>
            <a:r>
              <a:rPr lang="en-US" sz="1800">
                <a:solidFill>
                  <a:srgbClr val="300557"/>
                </a:solidFill>
              </a:rPr>
              <a:t>Adam generated a hashed-SSN → participant-ID crosswalk, allowing for a unique ID column to be applied. </a:t>
            </a:r>
          </a:p>
          <a:p>
            <a:endParaRPr lang="en-US" sz="2000"/>
          </a:p>
          <a:p>
            <a:pPr marL="38100" indent="0">
              <a:buNone/>
            </a:pPr>
            <a:r>
              <a:rPr lang="en-US" sz="2000" b="1"/>
              <a:t>Same problem at the worksite level. </a:t>
            </a:r>
            <a:r>
              <a:rPr lang="en-US" sz="2000" b="1" err="1"/>
              <a:t>worksite_id</a:t>
            </a:r>
            <a:r>
              <a:rPr lang="en-US" sz="2000" b="1"/>
              <a:t> is reassigned each cycle.</a:t>
            </a:r>
          </a:p>
          <a:p>
            <a:pPr marL="285750" indent="-285750"/>
            <a:r>
              <a:rPr lang="en-US" sz="1800" b="1">
                <a:solidFill>
                  <a:srgbClr val="300557"/>
                </a:solidFill>
              </a:rPr>
              <a:t>Problem: </a:t>
            </a:r>
            <a:r>
              <a:rPr lang="en-US" sz="1800">
                <a:solidFill>
                  <a:srgbClr val="300557"/>
                </a:solidFill>
              </a:rPr>
              <a:t>A site running every summer looks like a new site each year and would render provider clustering and any site-level variation meaningless.</a:t>
            </a:r>
          </a:p>
          <a:p>
            <a:pPr marL="285750" indent="-285750"/>
            <a:r>
              <a:rPr lang="en-US" sz="1800" b="1">
                <a:solidFill>
                  <a:srgbClr val="300557"/>
                </a:solidFill>
              </a:rPr>
              <a:t>Solution:</a:t>
            </a:r>
            <a:r>
              <a:rPr lang="en-US" sz="1800">
                <a:solidFill>
                  <a:srgbClr val="300557"/>
                </a:solidFill>
              </a:rPr>
              <a:t> Built a cross-year worksite bridge: normalize names → block to avoid all-pairs comparison → fuzzy match within block → assign a stable </a:t>
            </a:r>
            <a:r>
              <a:rPr lang="en-US" sz="1800" err="1">
                <a:solidFill>
                  <a:srgbClr val="300557"/>
                </a:solidFill>
              </a:rPr>
              <a:t>worksite_cluster_id</a:t>
            </a:r>
            <a:r>
              <a:rPr lang="en-US" sz="1800">
                <a:solidFill>
                  <a:srgbClr val="30055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3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FD9D0865-3A94-D0FE-B3CF-BB526AA6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1C2BBB77-D5B6-05E5-3290-C3940E0EC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633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Data Work — Frame A</a:t>
            </a:r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6213C4EA-A758-0522-6800-F28199C789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9B306-74E6-95E8-18D3-D6FFBCA88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741" y="1418275"/>
            <a:ext cx="8093977" cy="5149718"/>
          </a:xfrm>
        </p:spPr>
        <p:txBody>
          <a:bodyPr/>
          <a:lstStyle/>
          <a:p>
            <a:pPr marL="38100" indent="0">
              <a:buNone/>
            </a:pPr>
            <a:r>
              <a:rPr lang="en-US" sz="2000" b="1"/>
              <a:t>Placeholder worksites</a:t>
            </a:r>
          </a:p>
          <a:p>
            <a:r>
              <a:rPr lang="en-US" sz="1800">
                <a:solidFill>
                  <a:srgbClr val="300557"/>
                </a:solidFill>
              </a:rPr>
              <a:t>Many "worksites" aren't sites (</a:t>
            </a:r>
            <a:r>
              <a:rPr lang="en-US" sz="1800">
                <a:solidFill>
                  <a:srgbClr val="300557"/>
                </a:solidFill>
                <a:latin typeface="Consolas"/>
              </a:rPr>
              <a:t>NO SHOW</a:t>
            </a:r>
            <a:r>
              <a:rPr lang="en-US" sz="1800">
                <a:solidFill>
                  <a:srgbClr val="300557"/>
                </a:solidFill>
              </a:rPr>
              <a:t>, </a:t>
            </a:r>
            <a:r>
              <a:rPr lang="en-US" sz="1800">
                <a:solidFill>
                  <a:srgbClr val="300557"/>
                </a:solidFill>
                <a:latin typeface="Consolas"/>
              </a:rPr>
              <a:t>NOT PLACED, etc.)</a:t>
            </a:r>
            <a:r>
              <a:rPr lang="en-US" sz="1800">
                <a:solidFill>
                  <a:srgbClr val="300557"/>
                </a:solidFill>
              </a:rPr>
              <a:t>. Classified by pattern, no-shows collapsed out of the provider structure.</a:t>
            </a:r>
            <a:endParaRPr lang="en-US"/>
          </a:p>
          <a:p>
            <a:r>
              <a:rPr lang="en-US" sz="1800">
                <a:solidFill>
                  <a:srgbClr val="300557"/>
                </a:solidFill>
              </a:rPr>
              <a:t>Kept as participant flags: </a:t>
            </a:r>
            <a:r>
              <a:rPr lang="en-US" sz="1800" err="1">
                <a:solidFill>
                  <a:srgbClr val="300557"/>
                </a:solidFill>
              </a:rPr>
              <a:t>is_no_show</a:t>
            </a:r>
            <a:r>
              <a:rPr lang="en-US" sz="1800">
                <a:solidFill>
                  <a:srgbClr val="300557"/>
                </a:solidFill>
              </a:rPr>
              <a:t>, </a:t>
            </a:r>
            <a:r>
              <a:rPr lang="en-US" sz="1800" err="1">
                <a:solidFill>
                  <a:srgbClr val="300557"/>
                </a:solidFill>
              </a:rPr>
              <a:t>worksite_matched</a:t>
            </a:r>
            <a:r>
              <a:rPr lang="en-US" sz="1800">
                <a:solidFill>
                  <a:srgbClr val="300557"/>
                </a:solidFill>
              </a:rPr>
              <a:t>`.</a:t>
            </a:r>
            <a:endParaRPr lang="en-US"/>
          </a:p>
          <a:p>
            <a:endParaRPr lang="en-US" sz="1800" b="1">
              <a:solidFill>
                <a:srgbClr val="300557"/>
              </a:solidFill>
            </a:endParaRPr>
          </a:p>
          <a:p>
            <a:pPr marL="38100" indent="0">
              <a:buNone/>
            </a:pPr>
            <a:r>
              <a:rPr lang="en-US" sz="2000" b="1"/>
              <a:t>Year</a:t>
            </a:r>
            <a:endParaRPr lang="en-US" b="1"/>
          </a:p>
          <a:p>
            <a:pPr marL="285750" indent="-285750"/>
            <a:r>
              <a:rPr lang="en-US" sz="1800">
                <a:solidFill>
                  <a:srgbClr val="300557"/>
                </a:solidFill>
              </a:rPr>
              <a:t>Built numeric year column from Cycle ("SYEP 2025").</a:t>
            </a:r>
          </a:p>
          <a:p>
            <a:pPr marL="0" indent="0">
              <a:buNone/>
            </a:pPr>
            <a:endParaRPr lang="en-US" sz="1800">
              <a:solidFill>
                <a:srgbClr val="300557"/>
              </a:solidFill>
            </a:endParaRPr>
          </a:p>
          <a:p>
            <a:pPr marL="0" indent="0">
              <a:buNone/>
            </a:pPr>
            <a:r>
              <a:rPr lang="en-US" sz="1800" b="1"/>
              <a:t>Borough</a:t>
            </a:r>
          </a:p>
          <a:p>
            <a:pPr marL="285750" indent="-285750"/>
            <a:r>
              <a:rPr lang="en-US" sz="1800">
                <a:solidFill>
                  <a:srgbClr val="300557"/>
                </a:solidFill>
              </a:rPr>
              <a:t>Free-text field; people typed neighborhoods. Fuzzy-matched against an NYC neighborhood → borough reference table.</a:t>
            </a:r>
            <a:endParaRPr lang="en-US" sz="1800" b="1">
              <a:solidFill>
                <a:srgbClr val="300557"/>
              </a:solidFill>
            </a:endParaRPr>
          </a:p>
          <a:p>
            <a:pPr marL="285750" indent="-285750"/>
            <a:endParaRPr lang="en-US" sz="1800" b="1">
              <a:solidFill>
                <a:srgbClr val="3005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21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F1C82328-B062-30E1-772B-56396E8D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C47DA32A-C7D0-5E9D-9DAE-BE88877F4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633" y="274650"/>
            <a:ext cx="8199449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Data Work — Frame B</a:t>
            </a:r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AD3D4150-019D-D637-3737-51726C0FEC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ED5A0-A7D2-9184-4DBE-8A3670F89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741" y="1418275"/>
            <a:ext cx="8093977" cy="5149718"/>
          </a:xfrm>
        </p:spPr>
        <p:txBody>
          <a:bodyPr/>
          <a:lstStyle/>
          <a:p>
            <a:pPr marL="38100" indent="0">
              <a:buNone/>
            </a:pPr>
            <a:r>
              <a:rPr lang="en-US" sz="1800" b="1"/>
              <a:t>One row per person, at their first observed year</a:t>
            </a:r>
          </a:p>
          <a:p>
            <a:r>
              <a:rPr lang="en-US" sz="1600">
                <a:solidFill>
                  <a:srgbClr val="300557"/>
                </a:solidFill>
              </a:rPr>
              <a:t>Survey record attached to each person's earliest administrative year in 2022–2025.</a:t>
            </a:r>
          </a:p>
          <a:p>
            <a:pPr marL="38100" indent="0">
              <a:buNone/>
            </a:pPr>
            <a:endParaRPr lang="en-US" sz="1600">
              <a:solidFill>
                <a:srgbClr val="300557"/>
              </a:solidFill>
            </a:endParaRPr>
          </a:p>
          <a:p>
            <a:pPr marL="38100" indent="0">
              <a:buNone/>
            </a:pPr>
            <a:r>
              <a:rPr lang="en-US" sz="1800" b="1"/>
              <a:t>Year &amp; Wave</a:t>
            </a:r>
            <a:endParaRPr lang="en-US" sz="1800">
              <a:solidFill>
                <a:srgbClr val="300557"/>
              </a:solidFill>
            </a:endParaRPr>
          </a:p>
          <a:p>
            <a:pPr marL="323850" indent="-285750"/>
            <a:r>
              <a:rPr lang="en-US" sz="1600">
                <a:solidFill>
                  <a:srgbClr val="300557"/>
                </a:solidFill>
              </a:rPr>
              <a:t>Parsed </a:t>
            </a:r>
            <a:r>
              <a:rPr lang="en-US" sz="1600" err="1">
                <a:solidFill>
                  <a:srgbClr val="300557"/>
                </a:solidFill>
              </a:rPr>
              <a:t>SurveyType</a:t>
            </a:r>
            <a:r>
              <a:rPr lang="en-US" sz="1600">
                <a:solidFill>
                  <a:srgbClr val="300557"/>
                </a:solidFill>
              </a:rPr>
              <a:t> ("Pre 2023") it into a year and a wave, enabling matching.</a:t>
            </a:r>
          </a:p>
          <a:p>
            <a:pPr marL="38100" indent="0">
              <a:buNone/>
            </a:pPr>
            <a:endParaRPr lang="en-US" sz="1600"/>
          </a:p>
          <a:p>
            <a:pPr marL="38100" indent="0">
              <a:buNone/>
            </a:pPr>
            <a:r>
              <a:rPr lang="en-US" sz="1800" b="1"/>
              <a:t>Drops (8,882 → 5,844 → 4,785)</a:t>
            </a:r>
            <a:endParaRPr lang="en-US" sz="1800"/>
          </a:p>
          <a:p>
            <a:pPr marL="285750" indent="-285750"/>
            <a:r>
              <a:rPr lang="en-US" sz="1600">
                <a:solidFill>
                  <a:srgbClr val="300557"/>
                </a:solidFill>
              </a:rPr>
              <a:t>1,327 match no record in Frame A.</a:t>
            </a:r>
          </a:p>
          <a:p>
            <a:pPr marL="285750" indent="-285750"/>
            <a:r>
              <a:rPr lang="en-US" sz="1600">
                <a:solidFill>
                  <a:srgbClr val="300557"/>
                </a:solidFill>
              </a:rPr>
              <a:t>1,038 surveyed after their first program year.</a:t>
            </a:r>
          </a:p>
          <a:p>
            <a:pPr marL="285750" indent="-285750"/>
            <a:r>
              <a:rPr lang="en-US" sz="1600">
                <a:solidFill>
                  <a:srgbClr val="300557"/>
                </a:solidFill>
              </a:rPr>
              <a:t>1,059 missing provider.</a:t>
            </a:r>
          </a:p>
          <a:p>
            <a:pPr marL="0" indent="0">
              <a:buNone/>
            </a:pPr>
            <a:endParaRPr lang="en-US" sz="1600">
              <a:solidFill>
                <a:srgbClr val="300557"/>
              </a:solidFill>
            </a:endParaRPr>
          </a:p>
          <a:p>
            <a:pPr>
              <a:buNone/>
            </a:pPr>
            <a:r>
              <a:rPr lang="en-US" sz="1800" b="1"/>
              <a:t>Respondents are not a random sample</a:t>
            </a:r>
          </a:p>
          <a:p>
            <a:r>
              <a:rPr lang="en-US" sz="1600">
                <a:solidFill>
                  <a:srgbClr val="300557"/>
                </a:solidFill>
              </a:rPr>
              <a:t>Return rate 69.6% vs 56.1% for non-responders.</a:t>
            </a:r>
          </a:p>
          <a:p>
            <a:r>
              <a:rPr lang="en-US" sz="1600">
                <a:solidFill>
                  <a:srgbClr val="300557"/>
                </a:solidFill>
              </a:rPr>
              <a:t>1.2% of responders worked zero hours vs 20.0% of non-responders.</a:t>
            </a:r>
          </a:p>
          <a:p>
            <a:r>
              <a:rPr lang="en-US" sz="1600">
                <a:solidFill>
                  <a:srgbClr val="300557"/>
                </a:solidFill>
              </a:rPr>
              <a:t>Frame B describes completers, not SYEP participants.</a:t>
            </a:r>
          </a:p>
          <a:p>
            <a:pPr marL="0" indent="0">
              <a:buNone/>
            </a:pPr>
            <a:endParaRPr lang="en-US" sz="1800" b="1">
              <a:solidFill>
                <a:srgbClr val="3005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65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AD5A94C-DF06-7F2A-77B0-524D409D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986CAF53-44BB-4B4A-3A00-838FC0389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633" y="274650"/>
            <a:ext cx="8199449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Survey Features</a:t>
            </a: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92AC546D-D027-6928-1287-F596AC7BB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5C55E-0764-9D11-552F-E3FBD970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741" y="1418275"/>
            <a:ext cx="8087293" cy="1968034"/>
          </a:xfrm>
        </p:spPr>
        <p:txBody>
          <a:bodyPr/>
          <a:lstStyle/>
          <a:p>
            <a:pPr marL="38100" indent="0">
              <a:buNone/>
            </a:pPr>
            <a:r>
              <a:rPr lang="en-US" sz="1800" b="1"/>
              <a:t>Instrument to variables</a:t>
            </a:r>
            <a:endParaRPr lang="en-US" b="1"/>
          </a:p>
          <a:p>
            <a:r>
              <a:rPr lang="en-US" sz="1600">
                <a:solidFill>
                  <a:srgbClr val="300557"/>
                </a:solidFill>
              </a:rPr>
              <a:t>Hand-selected items from the pre- and post-program instruments, mapped to the research question.</a:t>
            </a:r>
          </a:p>
          <a:p>
            <a:r>
              <a:rPr lang="en-US" sz="1600">
                <a:solidFill>
                  <a:srgbClr val="300557"/>
                </a:solidFill>
              </a:rPr>
              <a:t>One question shows up as many columns — each answer option gets its own, so a question can span 5–15.</a:t>
            </a:r>
          </a:p>
          <a:p>
            <a:r>
              <a:rPr lang="en-US" sz="1600">
                <a:solidFill>
                  <a:srgbClr val="300557"/>
                </a:solidFill>
              </a:rPr>
              <a:t>Collapsed those back into 12 items across three blocks.</a:t>
            </a:r>
          </a:p>
          <a:p>
            <a:endParaRPr lang="en-US" sz="1600">
              <a:solidFill>
                <a:srgbClr val="300557"/>
              </a:solidFill>
            </a:endParaRPr>
          </a:p>
          <a:p>
            <a:pPr marL="38100" indent="0">
              <a:buNone/>
            </a:pPr>
            <a:endParaRPr lang="en-US" sz="1600">
              <a:solidFill>
                <a:srgbClr val="300557"/>
              </a:solidFill>
            </a:endParaRPr>
          </a:p>
          <a:p>
            <a:pPr>
              <a:buNone/>
            </a:pPr>
            <a:endParaRPr lang="en-US" sz="1600">
              <a:solidFill>
                <a:srgbClr val="300557"/>
              </a:solidFill>
            </a:endParaRPr>
          </a:p>
          <a:p>
            <a:pPr marL="38100" indent="0">
              <a:buNone/>
            </a:pPr>
            <a:endParaRPr lang="en-US" sz="1800"/>
          </a:p>
          <a:p>
            <a:pPr marL="38100" indent="0">
              <a:buNone/>
            </a:pPr>
            <a:endParaRPr lang="en-US" sz="1800">
              <a:solidFill>
                <a:srgbClr val="300557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D910E78-D10C-C4E3-E5F6-452000791B0D}"/>
              </a:ext>
            </a:extLst>
          </p:cNvPr>
          <p:cNvSpPr txBox="1">
            <a:spLocks/>
          </p:cNvSpPr>
          <p:nvPr/>
        </p:nvSpPr>
        <p:spPr>
          <a:xfrm>
            <a:off x="530088" y="3388780"/>
            <a:ext cx="8087293" cy="196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77480"/>
              </a:buClr>
              <a:buSzPts val="3000"/>
              <a:buFont typeface="Lato"/>
              <a:buChar char="▷"/>
              <a:defRPr sz="3000" b="0" i="0" u="none" strike="noStrike" cap="none">
                <a:solidFill>
                  <a:srgbClr val="00B1B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8100" indent="0">
              <a:buNone/>
            </a:pPr>
            <a:r>
              <a:rPr lang="en-US" sz="1800" b="1"/>
              <a:t>The three blocks</a:t>
            </a:r>
            <a:endParaRPr lang="en-US"/>
          </a:p>
          <a:p>
            <a:pPr marL="285750" indent="-285750"/>
            <a:r>
              <a:rPr lang="en-US" sz="1600" err="1">
                <a:solidFill>
                  <a:srgbClr val="300557"/>
                </a:solidFill>
                <a:latin typeface="Arial"/>
                <a:cs typeface="Arial"/>
              </a:rPr>
              <a:t>cf</a:t>
            </a:r>
            <a:r>
              <a:rPr lang="en-US" sz="1600">
                <a:solidFill>
                  <a:srgbClr val="300557"/>
                </a:solidFill>
                <a:latin typeface="Arial"/>
                <a:cs typeface="Arial"/>
              </a:rPr>
              <a:t>_* — what they'd have done otherwise (4 items)</a:t>
            </a:r>
            <a:endParaRPr lang="en-US" sz="1600"/>
          </a:p>
          <a:p>
            <a:pPr marL="285750" indent="-285750"/>
            <a:r>
              <a:rPr lang="en-US" sz="1600">
                <a:solidFill>
                  <a:srgbClr val="300557"/>
                </a:solidFill>
                <a:latin typeface="Arial"/>
                <a:cs typeface="Arial"/>
              </a:rPr>
              <a:t>expect_* — pre-program expectations (2 items) + was SYEP first </a:t>
            </a:r>
            <a:r>
              <a:rPr lang="en-US" sz="1600" err="1">
                <a:solidFill>
                  <a:srgbClr val="300557"/>
                </a:solidFill>
                <a:latin typeface="Arial"/>
                <a:cs typeface="Arial"/>
              </a:rPr>
              <a:t>choic</a:t>
            </a:r>
            <a:r>
              <a:rPr lang="en-US" sz="1600">
                <a:solidFill>
                  <a:srgbClr val="300557"/>
                </a:solidFill>
                <a:latin typeface="Arial"/>
                <a:cs typeface="Arial"/>
              </a:rPr>
              <a:t>e (1 item)</a:t>
            </a:r>
            <a:endParaRPr lang="en-US" sz="1600"/>
          </a:p>
          <a:p>
            <a:pPr marL="285750" indent="-285750"/>
            <a:r>
              <a:rPr lang="en-US" sz="1600">
                <a:solidFill>
                  <a:srgbClr val="300557"/>
                </a:solidFill>
                <a:latin typeface="Arial"/>
                <a:cs typeface="Arial"/>
              </a:rPr>
              <a:t>benefit_* — self-reported benefits (5 items) </a:t>
            </a:r>
            <a:endParaRPr lang="en-US" sz="1600"/>
          </a:p>
          <a:p>
            <a:pPr>
              <a:buFont typeface="Lato"/>
              <a:buChar char="▷"/>
            </a:pPr>
            <a:endParaRPr lang="en-US" sz="1600">
              <a:solidFill>
                <a:srgbClr val="300557"/>
              </a:solidFill>
            </a:endParaRPr>
          </a:p>
          <a:p>
            <a:pPr>
              <a:buFont typeface="Lato"/>
              <a:buNone/>
            </a:pPr>
            <a:endParaRPr lang="en-US" sz="1600">
              <a:solidFill>
                <a:srgbClr val="300557"/>
              </a:solidFill>
            </a:endParaRPr>
          </a:p>
          <a:p>
            <a:pPr marL="38100" indent="0">
              <a:buFont typeface="Lato"/>
              <a:buNone/>
            </a:pPr>
            <a:endParaRPr lang="en-US" sz="1800"/>
          </a:p>
          <a:p>
            <a:pPr marL="38100" indent="0">
              <a:buFont typeface="Lato"/>
              <a:buNone/>
            </a:pPr>
            <a:endParaRPr lang="en-US" sz="1800">
              <a:solidFill>
                <a:srgbClr val="300557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2F99B81-FFD1-2B7F-A92E-E9F021C3D827}"/>
              </a:ext>
            </a:extLst>
          </p:cNvPr>
          <p:cNvSpPr txBox="1">
            <a:spLocks/>
          </p:cNvSpPr>
          <p:nvPr/>
        </p:nvSpPr>
        <p:spPr>
          <a:xfrm>
            <a:off x="530088" y="5039780"/>
            <a:ext cx="8080609" cy="132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77480"/>
              </a:buClr>
              <a:buSzPts val="3000"/>
              <a:buFont typeface="Lato"/>
              <a:buChar char="▷"/>
              <a:defRPr sz="3000" b="0" i="0" u="none" strike="noStrike" cap="none">
                <a:solidFill>
                  <a:srgbClr val="00B1B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8100" indent="0">
              <a:buNone/>
            </a:pPr>
            <a:r>
              <a:rPr lang="en-US" sz="1800" b="1"/>
              <a:t>Non-response ≠ not selected</a:t>
            </a:r>
            <a:endParaRPr lang="en-US" b="1"/>
          </a:p>
          <a:p>
            <a:pPr marL="285750" indent="-285750"/>
            <a:r>
              <a:rPr lang="en-US" sz="1600">
                <a:solidFill>
                  <a:srgbClr val="300557"/>
                </a:solidFill>
              </a:rPr>
              <a:t>Skipping a whole question looks the same as checking none of the boxes.</a:t>
            </a:r>
          </a:p>
          <a:p>
            <a:pPr marL="285750" indent="-285750"/>
            <a:r>
              <a:rPr lang="en-US" sz="1600">
                <a:solidFill>
                  <a:srgbClr val="300557"/>
                </a:solidFill>
              </a:rPr>
              <a:t>Each block carries an _answered flag to keep those apart.</a:t>
            </a:r>
            <a:endParaRPr lang="en-US"/>
          </a:p>
          <a:p>
            <a:pPr>
              <a:buNone/>
            </a:pPr>
            <a:endParaRPr lang="en-US" sz="1600">
              <a:solidFill>
                <a:srgbClr val="300557"/>
              </a:solidFill>
            </a:endParaRPr>
          </a:p>
          <a:p>
            <a:pPr marL="38100" indent="0">
              <a:buFont typeface="Lato"/>
              <a:buNone/>
            </a:pPr>
            <a:endParaRPr lang="en-US" sz="1800"/>
          </a:p>
          <a:p>
            <a:pPr marL="38100" indent="0">
              <a:buFont typeface="Lato"/>
              <a:buNone/>
            </a:pPr>
            <a:endParaRPr lang="en-US" sz="1800">
              <a:solidFill>
                <a:srgbClr val="3005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7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52AF34B7-682E-5601-D3E0-2FE7AAC2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4FFB32F1-F382-4C1E-E5B8-690A8CFFD2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7FF00-DB41-7F36-C377-0FF79954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0560"/>
            <a:ext cx="9144000" cy="551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6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6905F-7B6A-4440-4997-CB5A317CA9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6FB26-42E9-9DA2-70F4-2AC43DC9B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121"/>
            <a:ext cx="9144000" cy="557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3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F048-ADE2-F36D-006B-31B8EE7BB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3EC42-9E89-742E-4CC5-1B608AF453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5" name="Shape 124">
            <a:extLst>
              <a:ext uri="{FF2B5EF4-FFF2-40B4-BE49-F238E27FC236}">
                <a16:creationId xmlns:a16="http://schemas.microsoft.com/office/drawing/2014/main" id="{D8A277A0-F028-7671-66C0-1C05A0BCC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811" y="673387"/>
            <a:ext cx="8199449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Logistic </a:t>
            </a:r>
            <a:r>
              <a:rPr lang="en" err="1"/>
              <a:t>Regre</a:t>
            </a:r>
            <a:r>
              <a:rPr lang="en"/>
              <a:t>ssion</a:t>
            </a:r>
            <a:endParaRPr lang="en-US"/>
          </a:p>
        </p:txBody>
      </p:sp>
      <p:sp>
        <p:nvSpPr>
          <p:cNvPr id="8" name="Shape 124">
            <a:extLst>
              <a:ext uri="{FF2B5EF4-FFF2-40B4-BE49-F238E27FC236}">
                <a16:creationId xmlns:a16="http://schemas.microsoft.com/office/drawing/2014/main" id="{57A42B7A-9867-6D26-D771-DE4ADF27D3F5}"/>
              </a:ext>
            </a:extLst>
          </p:cNvPr>
          <p:cNvSpPr txBox="1">
            <a:spLocks/>
          </p:cNvSpPr>
          <p:nvPr/>
        </p:nvSpPr>
        <p:spPr>
          <a:xfrm>
            <a:off x="5029874" y="1415971"/>
            <a:ext cx="34459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3005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2800" b="1">
                <a:solidFill>
                  <a:srgbClr val="00B1B3"/>
                </a:solidFill>
                <a:latin typeface="Lato"/>
                <a:ea typeface="Lato"/>
                <a:cs typeface="Lato"/>
              </a:rPr>
              <a:t>What we adjust for</a:t>
            </a:r>
          </a:p>
        </p:txBody>
      </p:sp>
      <p:sp>
        <p:nvSpPr>
          <p:cNvPr id="9" name="Shape 124">
            <a:extLst>
              <a:ext uri="{FF2B5EF4-FFF2-40B4-BE49-F238E27FC236}">
                <a16:creationId xmlns:a16="http://schemas.microsoft.com/office/drawing/2014/main" id="{227927AF-8659-A19F-CF91-FDD561247E04}"/>
              </a:ext>
            </a:extLst>
          </p:cNvPr>
          <p:cNvSpPr txBox="1">
            <a:spLocks/>
          </p:cNvSpPr>
          <p:nvPr/>
        </p:nvSpPr>
        <p:spPr>
          <a:xfrm>
            <a:off x="219686" y="1898102"/>
            <a:ext cx="4342179" cy="329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3005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" sz="1800" b="1">
                <a:latin typeface="Lato"/>
                <a:ea typeface="Lato"/>
                <a:cs typeface="Lato"/>
              </a:rPr>
              <a:t>Outcome:</a:t>
            </a:r>
            <a:r>
              <a:rPr lang="en" sz="1800">
                <a:latin typeface="Lato"/>
                <a:ea typeface="Lato"/>
                <a:cs typeface="Lato"/>
              </a:rPr>
              <a:t> applied again the following year (yes / no)</a:t>
            </a:r>
            <a:endParaRPr lang="en-US" sz="1800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 b="1">
                <a:latin typeface="Lato"/>
                <a:ea typeface="Lato"/>
                <a:cs typeface="Lato"/>
              </a:rPr>
              <a:t>Unit:</a:t>
            </a:r>
            <a:r>
              <a:rPr lang="en" sz="1800">
                <a:latin typeface="Lato"/>
                <a:ea typeface="Lato"/>
                <a:cs typeface="Lato"/>
              </a:rPr>
              <a:t> one row per participant per program year, 2022–2024</a:t>
            </a:r>
            <a:endParaRPr lang="en-US" sz="1800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 b="1">
                <a:latin typeface="Lato"/>
                <a:ea typeface="Lato"/>
                <a:cs typeface="Lato"/>
              </a:rPr>
              <a:t>Method:</a:t>
            </a:r>
            <a:r>
              <a:rPr lang="en" sz="1800">
                <a:latin typeface="Lato"/>
                <a:ea typeface="Lato"/>
                <a:cs typeface="Lato"/>
              </a:rPr>
              <a:t> logistic regression</a:t>
            </a:r>
            <a:endParaRPr lang="en-US" sz="1800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 b="1">
                <a:latin typeface="Lato"/>
                <a:ea typeface="Lato"/>
                <a:cs typeface="Lato"/>
              </a:rPr>
              <a:t>Standard errors clustered by provider</a:t>
            </a:r>
            <a:r>
              <a:rPr lang="en" sz="1800">
                <a:latin typeface="Lato"/>
                <a:ea typeface="Lato"/>
                <a:cs typeface="Lato"/>
              </a:rPr>
              <a:t> — participants at the same provider aren't independent</a:t>
            </a:r>
            <a:endParaRPr lang="en-US" sz="1800">
              <a:latin typeface="Lato"/>
              <a:ea typeface="Lato"/>
              <a:cs typeface="Lato"/>
            </a:endParaRPr>
          </a:p>
          <a:p>
            <a:endParaRPr lang="en" sz="1800"/>
          </a:p>
        </p:txBody>
      </p:sp>
      <p:sp>
        <p:nvSpPr>
          <p:cNvPr id="11" name="Shape 124">
            <a:extLst>
              <a:ext uri="{FF2B5EF4-FFF2-40B4-BE49-F238E27FC236}">
                <a16:creationId xmlns:a16="http://schemas.microsoft.com/office/drawing/2014/main" id="{C9D2B09E-BF36-5EA7-BB43-D34D40475168}"/>
              </a:ext>
            </a:extLst>
          </p:cNvPr>
          <p:cNvSpPr txBox="1">
            <a:spLocks/>
          </p:cNvSpPr>
          <p:nvPr/>
        </p:nvSpPr>
        <p:spPr>
          <a:xfrm>
            <a:off x="4740705" y="2839531"/>
            <a:ext cx="4370540" cy="140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3005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>
              <a:buFont typeface="Arial,Sans-Serif"/>
              <a:buChar char="•"/>
            </a:pPr>
            <a:endParaRPr lang="en" sz="1800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>
                <a:latin typeface="Lato"/>
                <a:ea typeface="Lato"/>
                <a:cs typeface="Lato"/>
              </a:rPr>
              <a:t>Hours worked (6 bands)</a:t>
            </a:r>
            <a:endParaRPr lang="en-US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>
                <a:latin typeface="Lato"/>
                <a:ea typeface="Lato"/>
                <a:cs typeface="Lato"/>
              </a:rPr>
              <a:t>Age (flexible curve, not a straight line)</a:t>
            </a:r>
            <a:endParaRPr lang="en-US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>
                <a:latin typeface="Lato"/>
                <a:ea typeface="Lato"/>
                <a:cs typeface="Lato"/>
              </a:rPr>
              <a:t>Year, borough</a:t>
            </a:r>
            <a:endParaRPr lang="en-US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>
                <a:latin typeface="Lato"/>
                <a:ea typeface="Lato"/>
                <a:cs typeface="Lato"/>
              </a:rPr>
              <a:t>No-show, worksite match</a:t>
            </a:r>
            <a:endParaRPr lang="en-US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" sz="1800">
                <a:latin typeface="Lato"/>
                <a:ea typeface="Lato"/>
                <a:cs typeface="Lato"/>
              </a:rPr>
              <a:t>Race, gender</a:t>
            </a:r>
            <a:endParaRPr lang="en">
              <a:latin typeface="Lato"/>
              <a:ea typeface="Lato"/>
              <a:cs typeface="Lato"/>
            </a:endParaRPr>
          </a:p>
        </p:txBody>
      </p:sp>
      <p:sp>
        <p:nvSpPr>
          <p:cNvPr id="13" name="Shape 124">
            <a:extLst>
              <a:ext uri="{FF2B5EF4-FFF2-40B4-BE49-F238E27FC236}">
                <a16:creationId xmlns:a16="http://schemas.microsoft.com/office/drawing/2014/main" id="{AA4FFE21-0BFC-7BB4-5E96-9DA30705F275}"/>
              </a:ext>
            </a:extLst>
          </p:cNvPr>
          <p:cNvSpPr txBox="1">
            <a:spLocks/>
          </p:cNvSpPr>
          <p:nvPr/>
        </p:nvSpPr>
        <p:spPr>
          <a:xfrm>
            <a:off x="1296804" y="1416169"/>
            <a:ext cx="34459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3005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2800" b="1">
                <a:solidFill>
                  <a:srgbClr val="00B1B3"/>
                </a:solidFill>
                <a:latin typeface="Lato"/>
                <a:ea typeface="Lato"/>
                <a:cs typeface="Lato"/>
              </a:rPr>
              <a:t>The setup</a:t>
            </a:r>
          </a:p>
        </p:txBody>
      </p:sp>
    </p:spTree>
    <p:extLst>
      <p:ext uri="{BB962C8B-B14F-4D97-AF65-F5344CB8AC3E}">
        <p14:creationId xmlns:p14="http://schemas.microsoft.com/office/powerpoint/2010/main" val="3747763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7192-32BB-F1CF-EDC6-ADA80BAA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156A7-A7A4-E8CB-190F-01431391D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39BCF2-E361-C4BA-C65C-E4C21FFD7DA1}"/>
              </a:ext>
            </a:extLst>
          </p:cNvPr>
          <p:cNvGrpSpPr/>
          <p:nvPr/>
        </p:nvGrpSpPr>
        <p:grpSpPr>
          <a:xfrm>
            <a:off x="317908" y="775915"/>
            <a:ext cx="8505871" cy="4006142"/>
            <a:chOff x="658368" y="530352"/>
            <a:chExt cx="10899648" cy="5367528"/>
          </a:xfrm>
        </p:grpSpPr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FF7E9A85-C367-59AC-1B74-8E3A9793EFAE}"/>
                </a:ext>
              </a:extLst>
            </p:cNvPr>
            <p:cNvSpPr/>
            <p:nvPr/>
          </p:nvSpPr>
          <p:spPr>
            <a:xfrm>
              <a:off x="9235440" y="530352"/>
              <a:ext cx="2167128" cy="402336"/>
            </a:xfrm>
            <a:prstGeom prst="roundRect">
              <a:avLst>
                <a:gd name="adj" fmla="val 18182"/>
              </a:avLst>
            </a:prstGeom>
            <a:solidFill>
              <a:srgbClr val="EFE8DC"/>
            </a:solidFill>
            <a:ln w="12700">
              <a:solidFill>
                <a:srgbClr val="D8CDBE">
                  <a:alpha val="8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4A22B272-6C7B-6AA3-D0C1-D3C0EB72DAA5}"/>
                </a:ext>
              </a:extLst>
            </p:cNvPr>
            <p:cNvSpPr/>
            <p:nvPr/>
          </p:nvSpPr>
          <p:spPr>
            <a:xfrm>
              <a:off x="9343452" y="670555"/>
              <a:ext cx="1883664" cy="1463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80" b="1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Outcome: reapplied next year</a:t>
              </a:r>
              <a:endParaRPr lang="en-US" sz="88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E7C697AE-B86C-DE7A-5482-ED0BE5F9F2DD}"/>
                </a:ext>
              </a:extLst>
            </p:cNvPr>
            <p:cNvSpPr/>
            <p:nvPr/>
          </p:nvSpPr>
          <p:spPr>
            <a:xfrm>
              <a:off x="1554480" y="1243584"/>
              <a:ext cx="468172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60" b="1">
                  <a:solidFill>
                    <a:srgbClr val="5B6472"/>
                  </a:solidFill>
                </a:rPr>
                <a:t>Question</a:t>
              </a:r>
              <a:endParaRPr lang="en-US" sz="860"/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31939650-7E2A-A5ED-A54A-1F422124031F}"/>
                </a:ext>
              </a:extLst>
            </p:cNvPr>
            <p:cNvSpPr/>
            <p:nvPr/>
          </p:nvSpPr>
          <p:spPr>
            <a:xfrm>
              <a:off x="6419088" y="1243584"/>
              <a:ext cx="254203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60" b="1">
                  <a:solidFill>
                    <a:srgbClr val="5B6472"/>
                  </a:solidFill>
                </a:rPr>
                <a:t>Frame / model</a:t>
              </a:r>
              <a:endParaRPr lang="en-US" sz="860"/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3EB71196-0D0A-C1DE-03D1-D2CAAFEBDF2F}"/>
                </a:ext>
              </a:extLst>
            </p:cNvPr>
            <p:cNvSpPr/>
            <p:nvPr/>
          </p:nvSpPr>
          <p:spPr>
            <a:xfrm>
              <a:off x="9217152" y="1243584"/>
              <a:ext cx="2057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860" b="1">
                  <a:solidFill>
                    <a:srgbClr val="5B6472"/>
                  </a:solidFill>
                </a:rPr>
                <a:t>Analytic n</a:t>
              </a:r>
              <a:endParaRPr lang="en-US" sz="860"/>
            </a:p>
          </p:txBody>
        </p:sp>
        <p:sp>
          <p:nvSpPr>
            <p:cNvPr id="39" name="Shape 9">
              <a:extLst>
                <a:ext uri="{FF2B5EF4-FFF2-40B4-BE49-F238E27FC236}">
                  <a16:creationId xmlns:a16="http://schemas.microsoft.com/office/drawing/2014/main" id="{AB34B529-2DA4-76CC-8B0C-76377AFE8B49}"/>
                </a:ext>
              </a:extLst>
            </p:cNvPr>
            <p:cNvSpPr/>
            <p:nvPr/>
          </p:nvSpPr>
          <p:spPr>
            <a:xfrm>
              <a:off x="658368" y="1490472"/>
              <a:ext cx="10899648" cy="978408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2700">
              <a:solidFill>
                <a:srgbClr val="D8CDBE">
                  <a:alpha val="85000"/>
                </a:srgbClr>
              </a:solidFill>
              <a:prstDash val="solid"/>
            </a:ln>
            <a:effectLst>
              <a:outerShdw blurRad="12700" dist="50800" dir="2700000" algn="bl" rotWithShape="0">
                <a:srgbClr val="C8BCA9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49490749-AF06-FBF0-1941-12EAF99CEA71}"/>
                </a:ext>
              </a:extLst>
            </p:cNvPr>
            <p:cNvSpPr/>
            <p:nvPr/>
          </p:nvSpPr>
          <p:spPr>
            <a:xfrm>
              <a:off x="932688" y="1801368"/>
              <a:ext cx="530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>
                  <a:solidFill>
                    <a:srgbClr val="335C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01</a:t>
              </a:r>
              <a:endParaRPr lang="en-US" sz="1200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055C6E33-B24F-BFC5-E39F-C879C7CC0C27}"/>
                </a:ext>
              </a:extLst>
            </p:cNvPr>
            <p:cNvSpPr/>
            <p:nvPr/>
          </p:nvSpPr>
          <p:spPr>
            <a:xfrm>
              <a:off x="1554480" y="1773936"/>
              <a:ext cx="468172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>
                  <a:solidFill>
                    <a:srgbClr val="16243B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Who comes back?</a:t>
              </a:r>
              <a:endParaRPr lang="en-US" sz="1800"/>
            </a:p>
          </p:txBody>
        </p:sp>
        <p:sp>
          <p:nvSpPr>
            <p:cNvPr id="42" name="Text 13">
              <a:extLst>
                <a:ext uri="{FF2B5EF4-FFF2-40B4-BE49-F238E27FC236}">
                  <a16:creationId xmlns:a16="http://schemas.microsoft.com/office/drawing/2014/main" id="{117B570D-53C4-917D-F41A-6447CA0C45C9}"/>
                </a:ext>
              </a:extLst>
            </p:cNvPr>
            <p:cNvSpPr/>
            <p:nvPr/>
          </p:nvSpPr>
          <p:spPr>
            <a:xfrm>
              <a:off x="6419088" y="1709928"/>
              <a:ext cx="25420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50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Administrative</a:t>
              </a:r>
              <a:endParaRPr lang="en-US" sz="1250"/>
            </a:p>
          </p:txBody>
        </p:sp>
        <p:sp>
          <p:nvSpPr>
            <p:cNvPr id="43" name="Shape 14">
              <a:extLst>
                <a:ext uri="{FF2B5EF4-FFF2-40B4-BE49-F238E27FC236}">
                  <a16:creationId xmlns:a16="http://schemas.microsoft.com/office/drawing/2014/main" id="{F5265595-0623-55D9-7F2D-CE82B3AC7819}"/>
                </a:ext>
              </a:extLst>
            </p:cNvPr>
            <p:cNvSpPr/>
            <p:nvPr/>
          </p:nvSpPr>
          <p:spPr>
            <a:xfrm>
              <a:off x="9217152" y="1700784"/>
              <a:ext cx="2057400" cy="530352"/>
            </a:xfrm>
            <a:prstGeom prst="roundRect">
              <a:avLst>
                <a:gd name="adj" fmla="val 10345"/>
              </a:avLst>
            </a:prstGeom>
            <a:solidFill>
              <a:srgbClr val="F5F1EA"/>
            </a:solidFill>
            <a:ln w="10160">
              <a:solidFill>
                <a:srgbClr val="E6D9C9">
                  <a:alpha val="8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CAF3C7AF-CF4A-F2E1-EAC9-A75ABDDF52B5}"/>
                </a:ext>
              </a:extLst>
            </p:cNvPr>
            <p:cNvSpPr/>
            <p:nvPr/>
          </p:nvSpPr>
          <p:spPr>
            <a:xfrm>
              <a:off x="9345168" y="1773936"/>
              <a:ext cx="18013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55000" lnSpcReduction="2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900" b="1">
                  <a:solidFill>
                    <a:srgbClr val="16243B"/>
                  </a:solidFill>
                  <a:latin typeface="Aptos"/>
                  <a:cs typeface="Arial"/>
                </a:rPr>
                <a:t>114,625</a:t>
              </a:r>
              <a:endParaRPr lang="en-US" sz="1900">
                <a:cs typeface="Arial"/>
              </a:endParaRPr>
            </a:p>
            <a:p>
              <a:pPr marL="0" indent="0" algn="r">
                <a:buNone/>
              </a:pPr>
              <a:r>
                <a:rPr lang="en-US" sz="1550" b="1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person-years</a:t>
              </a:r>
              <a:endParaRPr lang="en-US" sz="1550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79F6E9F8-00EA-ACB0-0FF1-20C9E06F453D}"/>
                </a:ext>
              </a:extLst>
            </p:cNvPr>
            <p:cNvSpPr/>
            <p:nvPr/>
          </p:nvSpPr>
          <p:spPr>
            <a:xfrm>
              <a:off x="658368" y="2633472"/>
              <a:ext cx="10899648" cy="978408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2700">
              <a:solidFill>
                <a:srgbClr val="D8CDBE">
                  <a:alpha val="85000"/>
                </a:srgbClr>
              </a:solidFill>
              <a:prstDash val="solid"/>
            </a:ln>
            <a:effectLst>
              <a:outerShdw blurRad="12700" dist="50800" dir="2700000" algn="bl" rotWithShape="0">
                <a:srgbClr val="C8BCA9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18">
              <a:extLst>
                <a:ext uri="{FF2B5EF4-FFF2-40B4-BE49-F238E27FC236}">
                  <a16:creationId xmlns:a16="http://schemas.microsoft.com/office/drawing/2014/main" id="{55848B00-6EA4-6539-C5E7-7AC44A38ABA0}"/>
                </a:ext>
              </a:extLst>
            </p:cNvPr>
            <p:cNvSpPr/>
            <p:nvPr/>
          </p:nvSpPr>
          <p:spPr>
            <a:xfrm>
              <a:off x="932688" y="2944368"/>
              <a:ext cx="530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>
                  <a:solidFill>
                    <a:srgbClr val="3A7D7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02</a:t>
              </a:r>
              <a:endParaRPr lang="en-US" sz="1200"/>
            </a:p>
          </p:txBody>
        </p:sp>
        <p:sp>
          <p:nvSpPr>
            <p:cNvPr id="47" name="Text 19">
              <a:extLst>
                <a:ext uri="{FF2B5EF4-FFF2-40B4-BE49-F238E27FC236}">
                  <a16:creationId xmlns:a16="http://schemas.microsoft.com/office/drawing/2014/main" id="{38F1F6E0-A66F-2C92-AEA1-B42A6E9C2525}"/>
                </a:ext>
              </a:extLst>
            </p:cNvPr>
            <p:cNvSpPr/>
            <p:nvPr/>
          </p:nvSpPr>
          <p:spPr>
            <a:xfrm>
              <a:off x="1554480" y="2916936"/>
              <a:ext cx="468172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>
                  <a:solidFill>
                    <a:srgbClr val="16243B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Does it hold for survey respondents?</a:t>
              </a:r>
              <a:endParaRPr lang="en-US" sz="1800"/>
            </a:p>
          </p:txBody>
        </p:sp>
        <p:sp>
          <p:nvSpPr>
            <p:cNvPr id="48" name="Text 20">
              <a:extLst>
                <a:ext uri="{FF2B5EF4-FFF2-40B4-BE49-F238E27FC236}">
                  <a16:creationId xmlns:a16="http://schemas.microsoft.com/office/drawing/2014/main" id="{CE67B1B4-CE21-2C7F-9A85-7105AD60031B}"/>
                </a:ext>
              </a:extLst>
            </p:cNvPr>
            <p:cNvSpPr/>
            <p:nvPr/>
          </p:nvSpPr>
          <p:spPr>
            <a:xfrm>
              <a:off x="6419088" y="2852928"/>
              <a:ext cx="25420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50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Same model,</a:t>
              </a:r>
              <a:endParaRPr lang="en-US" sz="1250"/>
            </a:p>
            <a:p>
              <a:pPr marL="0" indent="0">
                <a:buNone/>
              </a:pPr>
              <a:r>
                <a:rPr lang="en-US" sz="1250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their rows only</a:t>
              </a:r>
              <a:endParaRPr lang="en-US" sz="1250"/>
            </a:p>
          </p:txBody>
        </p:sp>
        <p:sp>
          <p:nvSpPr>
            <p:cNvPr id="49" name="Shape 21">
              <a:extLst>
                <a:ext uri="{FF2B5EF4-FFF2-40B4-BE49-F238E27FC236}">
                  <a16:creationId xmlns:a16="http://schemas.microsoft.com/office/drawing/2014/main" id="{FF32E1C6-FC8F-16C6-32DC-688909571E1F}"/>
                </a:ext>
              </a:extLst>
            </p:cNvPr>
            <p:cNvSpPr/>
            <p:nvPr/>
          </p:nvSpPr>
          <p:spPr>
            <a:xfrm>
              <a:off x="9217152" y="2843784"/>
              <a:ext cx="2057400" cy="530352"/>
            </a:xfrm>
            <a:prstGeom prst="roundRect">
              <a:avLst>
                <a:gd name="adj" fmla="val 10345"/>
              </a:avLst>
            </a:prstGeom>
            <a:solidFill>
              <a:srgbClr val="F5F1EA"/>
            </a:solidFill>
            <a:ln w="10160">
              <a:solidFill>
                <a:srgbClr val="E6D9C9">
                  <a:alpha val="8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22">
              <a:extLst>
                <a:ext uri="{FF2B5EF4-FFF2-40B4-BE49-F238E27FC236}">
                  <a16:creationId xmlns:a16="http://schemas.microsoft.com/office/drawing/2014/main" id="{E25F6001-A40D-AE67-135C-6218CC86F3AB}"/>
                </a:ext>
              </a:extLst>
            </p:cNvPr>
            <p:cNvSpPr/>
            <p:nvPr/>
          </p:nvSpPr>
          <p:spPr>
            <a:xfrm>
              <a:off x="9345168" y="2916936"/>
              <a:ext cx="18013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600" b="1">
                  <a:solidFill>
                    <a:srgbClr val="16243B"/>
                  </a:solidFill>
                  <a:latin typeface="Aptos"/>
                  <a:ea typeface="Aptos" pitchFamily="34" charset="-122"/>
                  <a:cs typeface="Aptos" pitchFamily="34" charset="-120"/>
                </a:rPr>
                <a:t>4,785</a:t>
              </a:r>
              <a:endParaRPr lang="en-US" sz="1600">
                <a:latin typeface="Aptos"/>
                <a:cs typeface="Arial"/>
              </a:endParaRPr>
            </a:p>
          </p:txBody>
        </p:sp>
        <p:sp>
          <p:nvSpPr>
            <p:cNvPr id="51" name="Shape 23">
              <a:extLst>
                <a:ext uri="{FF2B5EF4-FFF2-40B4-BE49-F238E27FC236}">
                  <a16:creationId xmlns:a16="http://schemas.microsoft.com/office/drawing/2014/main" id="{AE3B110A-F87B-8F52-E805-99DF4AACA0D7}"/>
                </a:ext>
              </a:extLst>
            </p:cNvPr>
            <p:cNvSpPr/>
            <p:nvPr/>
          </p:nvSpPr>
          <p:spPr>
            <a:xfrm>
              <a:off x="658368" y="3776472"/>
              <a:ext cx="10899648" cy="978408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2700">
              <a:solidFill>
                <a:srgbClr val="D8CDBE">
                  <a:alpha val="85000"/>
                </a:srgbClr>
              </a:solidFill>
              <a:prstDash val="solid"/>
            </a:ln>
            <a:effectLst>
              <a:outerShdw blurRad="12700" dist="50800" dir="2700000" algn="bl" rotWithShape="0">
                <a:srgbClr val="C8BCA9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25">
              <a:extLst>
                <a:ext uri="{FF2B5EF4-FFF2-40B4-BE49-F238E27FC236}">
                  <a16:creationId xmlns:a16="http://schemas.microsoft.com/office/drawing/2014/main" id="{8670C1ED-5641-4745-4F9B-FE4101020A34}"/>
                </a:ext>
              </a:extLst>
            </p:cNvPr>
            <p:cNvSpPr/>
            <p:nvPr/>
          </p:nvSpPr>
          <p:spPr>
            <a:xfrm>
              <a:off x="932688" y="4087368"/>
              <a:ext cx="530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>
                  <a:solidFill>
                    <a:srgbClr val="B65A3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03</a:t>
              </a:r>
              <a:endParaRPr lang="en-US" sz="1200"/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04F438F2-EE7B-A296-013E-BD760DC7CB59}"/>
                </a:ext>
              </a:extLst>
            </p:cNvPr>
            <p:cNvSpPr/>
            <p:nvPr/>
          </p:nvSpPr>
          <p:spPr>
            <a:xfrm>
              <a:off x="1554480" y="4059936"/>
              <a:ext cx="468172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>
                  <a:solidFill>
                    <a:srgbClr val="16243B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Do attitudes add anything?</a:t>
              </a:r>
              <a:endParaRPr lang="en-US" sz="1800"/>
            </a:p>
          </p:txBody>
        </p:sp>
        <p:sp>
          <p:nvSpPr>
            <p:cNvPr id="54" name="Text 27">
              <a:extLst>
                <a:ext uri="{FF2B5EF4-FFF2-40B4-BE49-F238E27FC236}">
                  <a16:creationId xmlns:a16="http://schemas.microsoft.com/office/drawing/2014/main" id="{BA50D374-11C2-A184-B227-C5DF344E966B}"/>
                </a:ext>
              </a:extLst>
            </p:cNvPr>
            <p:cNvSpPr/>
            <p:nvPr/>
          </p:nvSpPr>
          <p:spPr>
            <a:xfrm>
              <a:off x="6419088" y="3995928"/>
              <a:ext cx="25420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50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+ 12 survey</a:t>
              </a:r>
              <a:endParaRPr lang="en-US" sz="1250"/>
            </a:p>
            <a:p>
              <a:pPr marL="0" indent="0">
                <a:buNone/>
              </a:pPr>
              <a:r>
                <a:rPr lang="en-US" sz="1250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items</a:t>
              </a:r>
              <a:endParaRPr lang="en-US" sz="1250"/>
            </a:p>
          </p:txBody>
        </p:sp>
        <p:sp>
          <p:nvSpPr>
            <p:cNvPr id="55" name="Shape 28">
              <a:extLst>
                <a:ext uri="{FF2B5EF4-FFF2-40B4-BE49-F238E27FC236}">
                  <a16:creationId xmlns:a16="http://schemas.microsoft.com/office/drawing/2014/main" id="{EBFE3EC3-DDBC-C611-375E-CA06CD4D1C90}"/>
                </a:ext>
              </a:extLst>
            </p:cNvPr>
            <p:cNvSpPr/>
            <p:nvPr/>
          </p:nvSpPr>
          <p:spPr>
            <a:xfrm>
              <a:off x="9217152" y="3986784"/>
              <a:ext cx="2057400" cy="530352"/>
            </a:xfrm>
            <a:prstGeom prst="roundRect">
              <a:avLst>
                <a:gd name="adj" fmla="val 10345"/>
              </a:avLst>
            </a:prstGeom>
            <a:solidFill>
              <a:srgbClr val="F5F1EA"/>
            </a:solidFill>
            <a:ln w="10160">
              <a:solidFill>
                <a:srgbClr val="E6D9C9">
                  <a:alpha val="8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29">
              <a:extLst>
                <a:ext uri="{FF2B5EF4-FFF2-40B4-BE49-F238E27FC236}">
                  <a16:creationId xmlns:a16="http://schemas.microsoft.com/office/drawing/2014/main" id="{021AAEBC-15FE-D5DB-21AD-A910551BBF5F}"/>
                </a:ext>
              </a:extLst>
            </p:cNvPr>
            <p:cNvSpPr/>
            <p:nvPr/>
          </p:nvSpPr>
          <p:spPr>
            <a:xfrm>
              <a:off x="9345168" y="4059936"/>
              <a:ext cx="18013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600" b="1">
                  <a:solidFill>
                    <a:srgbClr val="16243B"/>
                  </a:solidFill>
                  <a:latin typeface="Aptos"/>
                  <a:ea typeface="Aptos" pitchFamily="34" charset="-122"/>
                  <a:cs typeface="Aptos" pitchFamily="34" charset="-120"/>
                </a:rPr>
                <a:t>4,785</a:t>
              </a:r>
              <a:endParaRPr lang="en-US" sz="1600">
                <a:latin typeface="Aptos"/>
                <a:cs typeface="Arial"/>
              </a:endParaRPr>
            </a:p>
          </p:txBody>
        </p:sp>
        <p:sp>
          <p:nvSpPr>
            <p:cNvPr id="57" name="Shape 30">
              <a:extLst>
                <a:ext uri="{FF2B5EF4-FFF2-40B4-BE49-F238E27FC236}">
                  <a16:creationId xmlns:a16="http://schemas.microsoft.com/office/drawing/2014/main" id="{B266A3FF-3A5C-4A6B-C7BE-2FEC772D2EDE}"/>
                </a:ext>
              </a:extLst>
            </p:cNvPr>
            <p:cNvSpPr/>
            <p:nvPr/>
          </p:nvSpPr>
          <p:spPr>
            <a:xfrm>
              <a:off x="658368" y="4919472"/>
              <a:ext cx="10899648" cy="978408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2700">
              <a:solidFill>
                <a:srgbClr val="D8CDBE">
                  <a:alpha val="85000"/>
                </a:srgbClr>
              </a:solidFill>
              <a:prstDash val="solid"/>
            </a:ln>
            <a:effectLst>
              <a:outerShdw blurRad="12700" dist="50800" dir="2700000" algn="bl" rotWithShape="0">
                <a:srgbClr val="C8BCA9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32">
              <a:extLst>
                <a:ext uri="{FF2B5EF4-FFF2-40B4-BE49-F238E27FC236}">
                  <a16:creationId xmlns:a16="http://schemas.microsoft.com/office/drawing/2014/main" id="{028D3427-7DE6-2243-216A-4292D3BB5E9E}"/>
                </a:ext>
              </a:extLst>
            </p:cNvPr>
            <p:cNvSpPr/>
            <p:nvPr/>
          </p:nvSpPr>
          <p:spPr>
            <a:xfrm>
              <a:off x="932688" y="5230368"/>
              <a:ext cx="530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>
                  <a:solidFill>
                    <a:srgbClr val="B8860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04</a:t>
              </a:r>
              <a:endParaRPr lang="en-US" sz="1200"/>
            </a:p>
          </p:txBody>
        </p:sp>
        <p:sp>
          <p:nvSpPr>
            <p:cNvPr id="59" name="Text 33">
              <a:extLst>
                <a:ext uri="{FF2B5EF4-FFF2-40B4-BE49-F238E27FC236}">
                  <a16:creationId xmlns:a16="http://schemas.microsoft.com/office/drawing/2014/main" id="{DC8F58DB-68B6-7231-95DA-7BEB52F0076E}"/>
                </a:ext>
              </a:extLst>
            </p:cNvPr>
            <p:cNvSpPr/>
            <p:nvPr/>
          </p:nvSpPr>
          <p:spPr>
            <a:xfrm>
              <a:off x="1554480" y="5202936"/>
              <a:ext cx="468172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>
                  <a:solidFill>
                    <a:srgbClr val="16243B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Does the provider matter?</a:t>
              </a:r>
              <a:endParaRPr lang="en-US" sz="1800"/>
            </a:p>
          </p:txBody>
        </p:sp>
        <p:sp>
          <p:nvSpPr>
            <p:cNvPr id="60" name="Text 34">
              <a:extLst>
                <a:ext uri="{FF2B5EF4-FFF2-40B4-BE49-F238E27FC236}">
                  <a16:creationId xmlns:a16="http://schemas.microsoft.com/office/drawing/2014/main" id="{F7916484-0CDD-87E8-63D9-0FB64B071886}"/>
                </a:ext>
              </a:extLst>
            </p:cNvPr>
            <p:cNvSpPr/>
            <p:nvPr/>
          </p:nvSpPr>
          <p:spPr>
            <a:xfrm>
              <a:off x="6419088" y="5138928"/>
              <a:ext cx="25420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50">
                  <a:solidFill>
                    <a:srgbClr val="16243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+ provider</a:t>
              </a:r>
              <a:endParaRPr lang="en-US" sz="1250"/>
            </a:p>
          </p:txBody>
        </p:sp>
        <p:sp>
          <p:nvSpPr>
            <p:cNvPr id="61" name="Shape 35">
              <a:extLst>
                <a:ext uri="{FF2B5EF4-FFF2-40B4-BE49-F238E27FC236}">
                  <a16:creationId xmlns:a16="http://schemas.microsoft.com/office/drawing/2014/main" id="{BBEE6BA5-EACF-F095-FFEE-266820C6974E}"/>
                </a:ext>
              </a:extLst>
            </p:cNvPr>
            <p:cNvSpPr/>
            <p:nvPr/>
          </p:nvSpPr>
          <p:spPr>
            <a:xfrm>
              <a:off x="9217152" y="5129784"/>
              <a:ext cx="2057400" cy="530352"/>
            </a:xfrm>
            <a:prstGeom prst="roundRect">
              <a:avLst>
                <a:gd name="adj" fmla="val 10345"/>
              </a:avLst>
            </a:prstGeom>
            <a:solidFill>
              <a:srgbClr val="F5F1EA"/>
            </a:solidFill>
            <a:ln w="10160">
              <a:solidFill>
                <a:srgbClr val="E6D9C9">
                  <a:alpha val="8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36">
              <a:extLst>
                <a:ext uri="{FF2B5EF4-FFF2-40B4-BE49-F238E27FC236}">
                  <a16:creationId xmlns:a16="http://schemas.microsoft.com/office/drawing/2014/main" id="{E413C9E3-886A-88B1-3BDC-836324E8D33D}"/>
                </a:ext>
              </a:extLst>
            </p:cNvPr>
            <p:cNvSpPr/>
            <p:nvPr/>
          </p:nvSpPr>
          <p:spPr>
            <a:xfrm>
              <a:off x="9345168" y="5202936"/>
              <a:ext cx="18013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600" b="1">
                  <a:solidFill>
                    <a:srgbClr val="16243B"/>
                  </a:solidFill>
                  <a:latin typeface="Aptos"/>
                  <a:ea typeface="Aptos" pitchFamily="34" charset="-122"/>
                  <a:cs typeface="Aptos" pitchFamily="34" charset="-120"/>
                </a:rPr>
                <a:t>114,625</a:t>
              </a:r>
              <a:endParaRPr lang="en-US" sz="1600">
                <a:latin typeface="Aptos"/>
                <a:cs typeface="Arial"/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5D56A68B-C4E9-0D2E-862E-605B6B37CFF8}"/>
              </a:ext>
            </a:extLst>
          </p:cNvPr>
          <p:cNvSpPr txBox="1"/>
          <p:nvPr/>
        </p:nvSpPr>
        <p:spPr>
          <a:xfrm>
            <a:off x="317294" y="5127130"/>
            <a:ext cx="838389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300557"/>
                </a:solidFill>
                <a:latin typeface="Lato"/>
                <a:ea typeface="Lato"/>
                <a:cs typeface="Lato"/>
              </a:rPr>
              <a:t>We never pool the survey with the administrative frame.</a:t>
            </a:r>
          </a:p>
          <a:p>
            <a:r>
              <a:rPr lang="en-US" sz="1600">
                <a:solidFill>
                  <a:srgbClr val="300557"/>
                </a:solidFill>
                <a:latin typeface="Lato"/>
                <a:ea typeface="Lato"/>
                <a:cs typeface="Lato"/>
              </a:rPr>
              <a:t>Row three exists only because row two does.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98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A8E9F806-4C57-E310-D359-37818CE3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09FB56D4-DA47-F668-64CC-9C43030869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BE3ED-D200-5740-48CB-E08DFA208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" y="994301"/>
            <a:ext cx="8898371" cy="48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40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449EF37-F385-AD31-5B28-76FD308D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ED353784-A344-06FD-F78D-32AA2314A3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63B93-F99D-C69F-BF79-971A5B02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6129"/>
            <a:ext cx="9144000" cy="334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9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AF323E35-B595-CCA1-A04F-02593A54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91639890-6C0A-AB7D-D3F2-F0AFC802BB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4" name="Picture 3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FBE3236C-956D-F2DC-0F41-2EF9FE11C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931" b="4005"/>
          <a:stretch>
            <a:fillRect/>
          </a:stretch>
        </p:blipFill>
        <p:spPr>
          <a:xfrm>
            <a:off x="502596" y="1218341"/>
            <a:ext cx="8138812" cy="463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49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A3863D0E-B953-BDBF-4DC4-A01E3E69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E3EDF286-DBCD-2536-FB33-7D489949D7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B9D55D-B63A-6ABA-4CAB-51C8D24A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81" y="52485"/>
            <a:ext cx="8095370" cy="65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28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1EA1506-DC84-28D8-984A-3F95A80D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94A1A7D8-05D4-860F-5BB7-337D11DB86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E80027CA-C6B8-4208-3624-D399E3304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3667"/>
            <a:ext cx="9144000" cy="496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42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0A1BC-7D29-47E7-76EE-FF348C3ADE9C}"/>
              </a:ext>
            </a:extLst>
          </p:cNvPr>
          <p:cNvSpPr txBox="1"/>
          <p:nvPr/>
        </p:nvSpPr>
        <p:spPr>
          <a:xfrm>
            <a:off x="1131738" y="2539374"/>
            <a:ext cx="6887278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</a:rPr>
              <a:t>How much of the program a young person completed — and which provider delivered it — predict whether they come back. What they said about the experience (based on selected questions) does not.</a:t>
            </a:r>
            <a:r>
              <a:rPr lang="en-US" sz="2400">
                <a:latin typeface="Lato"/>
                <a:ea typeface="Lato"/>
                <a:cs typeface="Lato"/>
              </a:rPr>
              <a:t> </a:t>
            </a:r>
            <a:endParaRPr lang="en-US"/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A5291924-DCF7-84B9-B32B-3EAF08C4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FB5EE5E3-F771-8E6B-7FE6-5D5B70E5A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633" y="274650"/>
            <a:ext cx="8199449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Limitations &amp; Caveats</a:t>
            </a: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4C8A865E-5B5A-F9CF-5ED1-725DD6551B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9ACDA-3AB0-2CC8-9B0A-5FE8C0DAB855}"/>
              </a:ext>
            </a:extLst>
          </p:cNvPr>
          <p:cNvSpPr txBox="1"/>
          <p:nvPr/>
        </p:nvSpPr>
        <p:spPr>
          <a:xfrm>
            <a:off x="810799" y="2657615"/>
            <a:ext cx="7522403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Association, not causation.</a:t>
            </a:r>
          </a:p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One binary item is a thin measure of intent</a:t>
            </a:r>
          </a:p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Where, not why — </a:t>
            </a:r>
            <a:r>
              <a:rPr lang="en-US" sz="2000" b="0">
                <a:solidFill>
                  <a:srgbClr val="300557"/>
                </a:solidFill>
                <a:latin typeface="Lato"/>
                <a:ea typeface="Lato"/>
                <a:cs typeface="Lato"/>
              </a:rPr>
              <a:t>we can locate attrition early in the placement but not explain any individual's decision.</a:t>
            </a:r>
          </a:p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The survey describes completers.</a:t>
            </a:r>
          </a:p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Missingness issues — </a:t>
            </a:r>
            <a:r>
              <a:rPr lang="en-US" sz="2000" b="0">
                <a:solidFill>
                  <a:srgbClr val="300557"/>
                </a:solidFill>
                <a:latin typeface="Lato"/>
                <a:ea typeface="Lato"/>
                <a:cs typeface="Lato"/>
              </a:rPr>
              <a:t>provider unrecorded for 37.8% of 2022.</a:t>
            </a:r>
          </a:p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Provider position is not yet shown to be stable year to year</a:t>
            </a:r>
          </a:p>
          <a:p>
            <a:pPr marL="228600" indent="-228600">
              <a:buFont typeface=""/>
              <a:buChar char="•"/>
            </a:pPr>
            <a:r>
              <a:rPr lang="en-US" sz="2000" b="1">
                <a:solidFill>
                  <a:srgbClr val="300557"/>
                </a:solidFill>
                <a:latin typeface="Lato"/>
                <a:ea typeface="Lato"/>
                <a:cs typeface="Lato"/>
              </a:rPr>
              <a:t>Need people to participate — </a:t>
            </a:r>
            <a:r>
              <a:rPr lang="en-US" sz="2000">
                <a:solidFill>
                  <a:srgbClr val="300557"/>
                </a:solidFill>
                <a:latin typeface="Lato"/>
                <a:ea typeface="Lato"/>
                <a:cs typeface="Lato"/>
              </a:rPr>
              <a:t>you can't find out anything about people who don't participate in SYEP.</a:t>
            </a:r>
            <a:endParaRPr lang="en-US" sz="2000" b="1">
              <a:solidFill>
                <a:srgbClr val="300557"/>
              </a:solidFill>
              <a:latin typeface="Lato"/>
              <a:ea typeface="Lato"/>
              <a:cs typeface="Lato"/>
            </a:endParaRPr>
          </a:p>
          <a:p>
            <a:pPr marL="228600" indent="-228600">
              <a:buFont typeface=""/>
              <a:buChar char="•"/>
            </a:pPr>
            <a:endParaRPr lang="en-US" sz="2000">
              <a:solidFill>
                <a:srgbClr val="300557"/>
              </a:solidFill>
              <a:latin typeface="Lato"/>
              <a:ea typeface="Lato"/>
              <a:cs typeface="Lato"/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312AF-7A08-94AF-0F47-30FB7320B965}"/>
              </a:ext>
            </a:extLst>
          </p:cNvPr>
          <p:cNvSpPr txBox="1"/>
          <p:nvPr/>
        </p:nvSpPr>
        <p:spPr>
          <a:xfrm>
            <a:off x="951562" y="1418895"/>
            <a:ext cx="738276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B1B3"/>
                </a:solidFill>
                <a:latin typeface="Lato"/>
                <a:ea typeface="Lato"/>
                <a:cs typeface="Lato"/>
              </a:rPr>
              <a:t>Return is revealed demand, not demonstrated benefit.</a:t>
            </a: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4EC35A54-CA7E-F39F-61CA-356D6945CB3E}"/>
              </a:ext>
            </a:extLst>
          </p:cNvPr>
          <p:cNvSpPr/>
          <p:nvPr/>
        </p:nvSpPr>
        <p:spPr>
          <a:xfrm>
            <a:off x="360354" y="1615964"/>
            <a:ext cx="450443" cy="444813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0A238-8085-69A8-339B-E7B7727C1C2E}"/>
              </a:ext>
            </a:extLst>
          </p:cNvPr>
          <p:cNvSpPr txBox="1"/>
          <p:nvPr/>
        </p:nvSpPr>
        <p:spPr>
          <a:xfrm>
            <a:off x="951562" y="2257847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solidFill>
                  <a:srgbClr val="00B1B3"/>
                </a:solidFill>
                <a:latin typeface="Lato"/>
                <a:ea typeface="Lato"/>
                <a:cs typeface="Lato"/>
              </a:rPr>
              <a:t>and...</a:t>
            </a:r>
          </a:p>
        </p:txBody>
      </p:sp>
    </p:spTree>
    <p:extLst>
      <p:ext uri="{BB962C8B-B14F-4D97-AF65-F5344CB8AC3E}">
        <p14:creationId xmlns:p14="http://schemas.microsoft.com/office/powerpoint/2010/main" val="3618783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088BE16-0609-69C7-055E-F75BAD47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>
            <a:extLst>
              <a:ext uri="{FF2B5EF4-FFF2-40B4-BE49-F238E27FC236}">
                <a16:creationId xmlns:a16="http://schemas.microsoft.com/office/drawing/2014/main" id="{4B6CEBB6-55DB-7870-9777-5CA86AE80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633" y="274650"/>
            <a:ext cx="8199449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What I'd do next</a:t>
            </a:r>
            <a:endParaRPr lang="en-US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0217A25F-984A-457B-1B60-86E5427C2E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75" y="6364177"/>
            <a:ext cx="5487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5DC0C-1E09-4EE1-0024-3C8C0E6ABAFC}"/>
              </a:ext>
            </a:extLst>
          </p:cNvPr>
          <p:cNvSpPr txBox="1"/>
          <p:nvPr/>
        </p:nvSpPr>
        <p:spPr>
          <a:xfrm>
            <a:off x="529271" y="1559659"/>
            <a:ext cx="8339956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B1B3"/>
                </a:solidFill>
                <a:ea typeface="Lato"/>
              </a:rPr>
              <a:t>Look at more of the survey</a:t>
            </a:r>
            <a:br>
              <a:rPr lang="en-US" sz="2000" b="1" dirty="0">
                <a:ea typeface="Lato"/>
              </a:rPr>
            </a:br>
            <a:r>
              <a:rPr lang="en-US" sz="2000">
                <a:solidFill>
                  <a:srgbClr val="300557"/>
                </a:solidFill>
                <a:ea typeface="Lato"/>
              </a:rPr>
              <a:t>The design here (one row per person, first observed year) is what made most items unusable. A cross-sectional question wouldn't have that issue.</a:t>
            </a:r>
            <a:endParaRPr lang="en-US"/>
          </a:p>
          <a:p>
            <a:endParaRPr lang="en-US" sz="2000">
              <a:solidFill>
                <a:srgbClr val="300557"/>
              </a:solidFill>
              <a:ea typeface="Lato"/>
            </a:endParaRPr>
          </a:p>
          <a:p>
            <a:r>
              <a:rPr lang="en-US" sz="2000" b="1">
                <a:solidFill>
                  <a:srgbClr val="00B1B3"/>
                </a:solidFill>
                <a:ea typeface="Lato"/>
              </a:rPr>
              <a:t>Fix two administrative fields</a:t>
            </a:r>
            <a:br>
              <a:rPr lang="en-US" sz="2000" dirty="0">
                <a:ea typeface="Lato"/>
              </a:rPr>
            </a:br>
            <a:r>
              <a:rPr lang="en-US" sz="2000">
                <a:solidFill>
                  <a:srgbClr val="300557"/>
                </a:solidFill>
                <a:ea typeface="Lato"/>
              </a:rPr>
              <a:t>A stable worksite ID that persists across cycles. An industry code for the specific placement, not the worksite in general.</a:t>
            </a:r>
          </a:p>
          <a:p>
            <a:endParaRPr lang="en-US" sz="2000" b="1">
              <a:ea typeface="Lato"/>
            </a:endParaRPr>
          </a:p>
          <a:p>
            <a:r>
              <a:rPr lang="en-US" sz="2000" b="1" dirty="0">
                <a:solidFill>
                  <a:srgbClr val="00B1B3"/>
                </a:solidFill>
                <a:ea typeface="Lato"/>
              </a:rPr>
              <a:t>Point it at attrition</a:t>
            </a:r>
            <a:br>
              <a:rPr lang="en-US" sz="2000" b="1" dirty="0">
                <a:ea typeface="Lato"/>
              </a:rPr>
            </a:br>
            <a:r>
              <a:rPr lang="en-US" sz="2000" dirty="0">
                <a:solidFill>
                  <a:srgbClr val="300557"/>
                </a:solidFill>
                <a:ea typeface="Lato"/>
              </a:rPr>
              <a:t>This is a model of who leaves early, and that's where it's useful (+where the recommendation holds regardless of what we consider "success" in </a:t>
            </a:r>
            <a:r>
              <a:rPr lang="en-US" sz="2000">
                <a:solidFill>
                  <a:srgbClr val="300557"/>
                </a:solidFill>
                <a:ea typeface="Lato"/>
              </a:rPr>
              <a:t>SYEP).</a:t>
            </a:r>
            <a:endParaRPr lang="en-US" sz="2000"/>
          </a:p>
          <a:p>
            <a:endParaRPr lang="en-US">
              <a:ea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17891322"/>
      </p:ext>
    </p:extLst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caa0ad-1597-45f6-8e6d-1c823493dcfd" xsi:nil="true"/>
    <lcf76f155ced4ddcb4097134ff3c332f xmlns="76e0149c-50f5-4939-9e8a-a11499dfb20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043065FBAD094BAD810E89A764B325" ma:contentTypeVersion="16" ma:contentTypeDescription="Create a new document." ma:contentTypeScope="" ma:versionID="fe66df05c342c105611118d604524c64">
  <xsd:schema xmlns:xsd="http://www.w3.org/2001/XMLSchema" xmlns:xs="http://www.w3.org/2001/XMLSchema" xmlns:p="http://schemas.microsoft.com/office/2006/metadata/properties" xmlns:ns2="d4aaa063-6ec8-45e3-8106-8c638a7b1a53" xmlns:ns3="76e0149c-50f5-4939-9e8a-a11499dfb206" xmlns:ns4="7bcaa0ad-1597-45f6-8e6d-1c823493dcfd" targetNamespace="http://schemas.microsoft.com/office/2006/metadata/properties" ma:root="true" ma:fieldsID="ba924d16903204d51c123593ca873d7c" ns2:_="" ns3:_="" ns4:_="">
    <xsd:import namespace="d4aaa063-6ec8-45e3-8106-8c638a7b1a53"/>
    <xsd:import namespace="76e0149c-50f5-4939-9e8a-a11499dfb206"/>
    <xsd:import namespace="7bcaa0ad-1597-45f6-8e6d-1c823493dcf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OCR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aaa063-6ec8-45e3-8106-8c638a7b1a5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0149c-50f5-4939-9e8a-a11499dfb2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b4f074c-b2b8-450b-8d7f-e48a28ce4c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aa0ad-1597-45f6-8e6d-1c823493dcfd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4a061090-f6d7-4f01-9bd1-07472a380587}" ma:internalName="TaxCatchAll" ma:showField="CatchAllData" ma:web="7bcaa0ad-1597-45f6-8e6d-1c823493d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38D62D-D5B1-404D-B35B-80EED30F38EF}">
  <ds:schemaRefs>
    <ds:schemaRef ds:uri="76e0149c-50f5-4939-9e8a-a11499dfb206"/>
    <ds:schemaRef ds:uri="7bcaa0ad-1597-45f6-8e6d-1c823493dcfd"/>
    <ds:schemaRef ds:uri="d4aaa063-6ec8-45e3-8106-8c638a7b1a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0780A1-8AB3-45A2-933A-DB86D4884B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8686F3-6C65-4660-9C2E-06C16CCDA335}">
  <ds:schemaRefs>
    <ds:schemaRef ds:uri="76e0149c-50f5-4939-9e8a-a11499dfb206"/>
    <ds:schemaRef ds:uri="7bcaa0ad-1597-45f6-8e6d-1c823493dcfd"/>
    <ds:schemaRef ds:uri="d4aaa063-6ec8-45e3-8106-8c638a7b1a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Macintosh PowerPoint</Application>
  <PresentationFormat>On-screen Show (4:3)</PresentationFormat>
  <Paragraphs>178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Lato</vt:lpstr>
      <vt:lpstr>Consolas</vt:lpstr>
      <vt:lpstr>Arial Narrow</vt:lpstr>
      <vt:lpstr>Aptos Display</vt:lpstr>
      <vt:lpstr>Raleway</vt:lpstr>
      <vt:lpstr>Arial</vt:lpstr>
      <vt:lpstr>Arial,Sans-Serif</vt:lpstr>
      <vt:lpstr>Aptos</vt:lpstr>
      <vt:lpstr>Antonio template</vt:lpstr>
      <vt:lpstr>1. Who Returns to SYEP? </vt:lpstr>
      <vt:lpstr>Introduction</vt:lpstr>
      <vt:lpstr>Project Motivation</vt:lpstr>
      <vt:lpstr>Research Question</vt:lpstr>
      <vt:lpstr>Narrowing the Question</vt:lpstr>
      <vt:lpstr>We'll cover...</vt:lpstr>
      <vt:lpstr>Data Sourcing</vt:lpstr>
      <vt:lpstr>The Identity Problem</vt:lpstr>
      <vt:lpstr>Data Work — Frame A</vt:lpstr>
      <vt:lpstr>Data Work — Frame B</vt:lpstr>
      <vt:lpstr>Survey Features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&amp; Caveats</vt:lpstr>
      <vt:lpstr>What I'd do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Yexenia Markland</dc:creator>
  <cp:lastModifiedBy>Sonia Tyburczy</cp:lastModifiedBy>
  <cp:revision>19</cp:revision>
  <dcterms:modified xsi:type="dcterms:W3CDTF">2026-08-12T20:26:43Z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0x010100C9043065FBAD094BAD810E89A764B325</vt:lpwstr>
  </property>
  <property fmtid="{D5CDD505-2E9C-101B-9397-08002B2CF9AE}" pid="3" name="MSIP_Label_ebba276f-0474-4e48-a2bc-69b0eb22318c_Enabled">
    <vt:lpwstr>true</vt:lpwstr>
  </property>
  <property fmtid="{D5CDD505-2E9C-101B-9397-08002B2CF9AE}" pid="4" name="MSIP_Label_ebba276f-0474-4e48-a2bc-69b0eb22318c_SetDate">
    <vt:lpwstr>2024-11-19T22:57:22Z</vt:lpwstr>
  </property>
  <property fmtid="{D5CDD505-2E9C-101B-9397-08002B2CF9AE}" pid="5" name="MSIP_Label_ebba276f-0474-4e48-a2bc-69b0eb22318c_Method">
    <vt:lpwstr>Standard</vt:lpwstr>
  </property>
  <property fmtid="{D5CDD505-2E9C-101B-9397-08002B2CF9AE}" pid="6" name="MSIP_Label_ebba276f-0474-4e48-a2bc-69b0eb22318c_Name">
    <vt:lpwstr>Non-Restricted-Main</vt:lpwstr>
  </property>
  <property fmtid="{D5CDD505-2E9C-101B-9397-08002B2CF9AE}" pid="7" name="MSIP_Label_ebba276f-0474-4e48-a2bc-69b0eb22318c_SiteId">
    <vt:lpwstr>32f56fc7-5f81-4e22-a95b-15da66513bef</vt:lpwstr>
  </property>
  <property fmtid="{D5CDD505-2E9C-101B-9397-08002B2CF9AE}" pid="8" name="MSIP_Label_ebba276f-0474-4e48-a2bc-69b0eb22318c_ActionId">
    <vt:lpwstr>71ae9509-da7f-4da5-8aa2-88acb5f96437</vt:lpwstr>
  </property>
  <property fmtid="{D5CDD505-2E9C-101B-9397-08002B2CF9AE}" pid="9" name="MSIP_Label_ebba276f-0474-4e48-a2bc-69b0eb22318c_ContentBits">
    <vt:lpwstr>0</vt:lpwstr>
  </property>
  <property fmtid="{D5CDD505-2E9C-101B-9397-08002B2CF9AE}" pid="10" name="MediaServiceImageTags">
    <vt:lpwstr/>
  </property>
  <property fmtid="{D5CDD505-2E9C-101B-9397-08002B2CF9AE}" pid="11" name="MSIP_Label_ebba276f-0474-4e48-a2bc-69b0eb22318c_Tag">
    <vt:lpwstr>10, 3, 0, 2</vt:lpwstr>
  </property>
</Properties>
</file>